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42806620" cy="30279975"/>
  <p:notesSz cx="6767195" cy="99072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s 4"/>
          <p:cNvSpPr/>
          <p:nvPr/>
        </p:nvSpPr>
        <p:spPr>
          <a:xfrm>
            <a:off x="0" y="0"/>
            <a:ext cx="6768000" cy="9907200"/>
          </a:xfrm>
          <a:prstGeom prst="rect">
            <a:avLst/>
          </a:prstGeom>
          <a:solidFill>
            <a:srgbClr val="FFFFFF"/>
          </a:solidFill>
          <a:ln w="0">
            <a:noFill/>
          </a:ln>
        </p:spPr>
        <p:txBody>
          <a:bodyPr lIns="90000" tIns="45000" rIns="90000" bIns="45000" anchor="ctr" anchorCtr="1">
            <a:noAutofit/>
          </a:bodyPr>
          <a:p>
            <a:endParaRPr lang="en-US" sz="2300" b="0" strike="noStrike" spc="-1">
              <a:solidFill>
                <a:srgbClr val="000000"/>
              </a:solidFill>
              <a:latin typeface="Arial" panose="020B0604020202020204"/>
            </a:endParaRPr>
          </a:p>
        </p:txBody>
      </p:sp>
      <p:sp>
        <p:nvSpPr>
          <p:cNvPr id="6" name="PlaceHolder 1"/>
          <p:cNvSpPr>
            <a:spLocks noGrp="1"/>
          </p:cNvSpPr>
          <p:nvPr>
            <p:ph type="hdr"/>
          </p:nvPr>
        </p:nvSpPr>
        <p:spPr>
          <a:xfrm>
            <a:off x="-360" y="0"/>
            <a:ext cx="2933640" cy="495360"/>
          </a:xfrm>
          <a:prstGeom prst="rect">
            <a:avLst/>
          </a:prstGeom>
          <a:noFill/>
          <a:ln w="0">
            <a:noFill/>
          </a:ln>
        </p:spPr>
        <p:txBody>
          <a:bodyPr lIns="90000" tIns="46800" rIns="90000" bIns="46800" anchor="t">
            <a:noAutofit/>
          </a:bodyPr>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7" name="PlaceHolder 2"/>
          <p:cNvSpPr>
            <a:spLocks noGrp="1"/>
          </p:cNvSpPr>
          <p:nvPr>
            <p:ph type="dt" idx="4"/>
          </p:nvPr>
        </p:nvSpPr>
        <p:spPr>
          <a:xfrm>
            <a:off x="3833640" y="0"/>
            <a:ext cx="2934000" cy="49536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000000"/>
                </a:solidFill>
                <a:latin typeface="Arial" panose="020B0604020202020204"/>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000000"/>
                </a:solidFill>
                <a:latin typeface="Arial" panose="020B0604020202020204"/>
              </a:rPr>
              <a:t>&lt;date/time&gt;</a:t>
            </a:r>
            <a:endParaRPr lang="en-US" sz="1200" b="0" strike="noStrike" spc="-1">
              <a:solidFill>
                <a:srgbClr val="000000"/>
              </a:solidFill>
              <a:latin typeface="Arial" panose="020B0604020202020204"/>
            </a:endParaRPr>
          </a:p>
        </p:txBody>
      </p:sp>
      <p:sp>
        <p:nvSpPr>
          <p:cNvPr id="8" name="PlaceHolder 3"/>
          <p:cNvSpPr>
            <a:spLocks noGrp="1"/>
          </p:cNvSpPr>
          <p:nvPr>
            <p:ph type="sldImg"/>
          </p:nvPr>
        </p:nvSpPr>
        <p:spPr>
          <a:xfrm>
            <a:off x="758520" y="742680"/>
            <a:ext cx="5251320" cy="3714840"/>
          </a:xfrm>
          <a:prstGeom prst="rect">
            <a:avLst/>
          </a:prstGeom>
          <a:noFill/>
          <a:ln w="12600">
            <a:solidFill>
              <a:srgbClr val="000000"/>
            </a:solidFill>
            <a:miter/>
          </a:ln>
        </p:spPr>
        <p:txBody>
          <a:bodyPr lIns="90000" tIns="46800" rIns="90000" bIns="46800" anchor="ctr">
            <a:noAutofit/>
          </a:bodyPr>
          <a:p>
            <a:pPr indent="0" algn="ctr">
              <a:buNone/>
              <a:tabLst>
                <a:tab pos="0" algn="l"/>
                <a:tab pos="4490720" algn="l"/>
                <a:tab pos="8981440" algn="l"/>
              </a:tabLst>
            </a:pPr>
            <a:r>
              <a:rPr lang="en-US" sz="21600" b="0" strike="noStrike" spc="-1">
                <a:solidFill>
                  <a:srgbClr val="000000"/>
                </a:solidFill>
                <a:latin typeface="Times New Roman" panose="02020603050405020304"/>
              </a:rPr>
              <a:t>Click to move the slide</a:t>
            </a:r>
            <a:endParaRPr lang="en-US" sz="21600" b="0" strike="noStrike" spc="-1">
              <a:solidFill>
                <a:srgbClr val="000000"/>
              </a:solidFill>
              <a:latin typeface="Times New Roman" panose="02020603050405020304"/>
            </a:endParaRPr>
          </a:p>
        </p:txBody>
      </p:sp>
      <p:sp>
        <p:nvSpPr>
          <p:cNvPr id="9" name="PlaceHolder 4"/>
          <p:cNvSpPr>
            <a:spLocks noGrp="1"/>
          </p:cNvSpPr>
          <p:nvPr>
            <p:ph type="body"/>
          </p:nvPr>
        </p:nvSpPr>
        <p:spPr>
          <a:xfrm>
            <a:off x="676440" y="4704840"/>
            <a:ext cx="5416560" cy="4457880"/>
          </a:xfrm>
          <a:prstGeom prst="rect">
            <a:avLst/>
          </a:prstGeom>
          <a:noFill/>
          <a:ln w="0">
            <a:noFill/>
          </a:ln>
        </p:spPr>
        <p:txBody>
          <a:bodyPr lIns="90000" tIns="46800" rIns="90000" bIns="46800" anchor="t">
            <a:noAutofit/>
          </a:bodyPr>
          <a:p>
            <a:pPr indent="0">
              <a:spcBef>
                <a:spcPts val="45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1200" b="0" strike="noStrike" spc="-1">
                <a:solidFill>
                  <a:srgbClr val="000000"/>
                </a:solidFill>
                <a:latin typeface="Calibri" panose="020F0502020204030204"/>
              </a:rPr>
              <a:t>Click to edit the notes format</a:t>
            </a:r>
            <a:endParaRPr lang="en-US" sz="1200" b="0" strike="noStrike" spc="-1">
              <a:solidFill>
                <a:srgbClr val="000000"/>
              </a:solidFill>
              <a:latin typeface="Calibri" panose="020F0502020204030204"/>
            </a:endParaRPr>
          </a:p>
        </p:txBody>
      </p:sp>
      <p:sp>
        <p:nvSpPr>
          <p:cNvPr id="10" name="PlaceHolder 5"/>
          <p:cNvSpPr>
            <a:spLocks noGrp="1"/>
          </p:cNvSpPr>
          <p:nvPr>
            <p:ph type="ftr" idx="5"/>
          </p:nvPr>
        </p:nvSpPr>
        <p:spPr>
          <a:xfrm>
            <a:off x="-360" y="9408960"/>
            <a:ext cx="2933640" cy="495360"/>
          </a:xfrm>
          <a:prstGeom prst="rect">
            <a:avLst/>
          </a:prstGeom>
          <a:noFill/>
          <a:ln w="0">
            <a:noFill/>
          </a:ln>
        </p:spPr>
        <p:txBody>
          <a:bodyPr lIns="90000" tIns="46800" rIns="90000" bIns="46800" anchor="b">
            <a:noAutofit/>
          </a:bodyPr>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11" name="PlaceHolder 6"/>
          <p:cNvSpPr>
            <a:spLocks noGrp="1"/>
          </p:cNvSpPr>
          <p:nvPr>
            <p:ph type="sldNum" idx="6"/>
          </p:nvPr>
        </p:nvSpPr>
        <p:spPr>
          <a:xfrm>
            <a:off x="3833640" y="9408960"/>
            <a:ext cx="2934000" cy="49536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000000"/>
                </a:solidFill>
                <a:latin typeface="Arial" panose="020B0604020202020204"/>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53BEFC5-4218-4112-A2AA-8E9CAB37C2B2}" type="slidenum">
              <a:rPr lang="en-US" sz="1200" b="0" strike="noStrike" spc="-1">
                <a:solidFill>
                  <a:srgbClr val="000000"/>
                </a:solidFill>
                <a:latin typeface="Arial" panose="020B0604020202020204"/>
              </a:rPr>
            </a:fld>
            <a:endParaRPr lang="en-US" sz="12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laceHolder 1"/>
          <p:cNvSpPr>
            <a:spLocks noGrp="1"/>
          </p:cNvSpPr>
          <p:nvPr>
            <p:ph type="sldImg"/>
          </p:nvPr>
        </p:nvSpPr>
        <p:spPr>
          <a:xfrm>
            <a:off x="758880" y="743040"/>
            <a:ext cx="5251320" cy="3714840"/>
          </a:xfrm>
          <a:prstGeom prst="rect">
            <a:avLst/>
          </a:prstGeom>
          <a:ln w="0">
            <a:noFill/>
          </a:ln>
        </p:spPr>
      </p:sp>
      <p:sp>
        <p:nvSpPr>
          <p:cNvPr id="43" name="PlaceHolder 2"/>
          <p:cNvSpPr>
            <a:spLocks noGrp="1"/>
          </p:cNvSpPr>
          <p:nvPr>
            <p:ph type="body"/>
          </p:nvPr>
        </p:nvSpPr>
        <p:spPr>
          <a:xfrm>
            <a:off x="676440" y="4704840"/>
            <a:ext cx="5416560" cy="4457880"/>
          </a:xfrm>
          <a:prstGeom prst="rect">
            <a:avLst/>
          </a:prstGeom>
          <a:noFill/>
          <a:ln w="0">
            <a:noFill/>
          </a:ln>
        </p:spPr>
        <p:txBody>
          <a:bodyPr lIns="0" tIns="0" rIns="0" bIns="0" anchor="t">
            <a:noAutofit/>
          </a:bodyPr>
          <a:p>
            <a:pPr indent="0">
              <a:spcBef>
                <a:spcPts val="450"/>
              </a:spcBef>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sz="1200" b="0" strike="noStrike" spc="-1">
              <a:solidFill>
                <a:srgbClr val="000000"/>
              </a:solidFill>
              <a:latin typeface="Calibri" panose="020F0502020204030204"/>
            </a:endParaRPr>
          </a:p>
        </p:txBody>
      </p:sp>
      <p:sp>
        <p:nvSpPr>
          <p:cNvPr id="44" name="Slide Number Placeholder 3"/>
          <p:cNvSpPr/>
          <p:nvPr/>
        </p:nvSpPr>
        <p:spPr>
          <a:xfrm>
            <a:off x="3833640" y="9408960"/>
            <a:ext cx="2934000" cy="49536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F00F7DE-E8BF-4559-B736-F96F5746DFBF}" type="slidenum">
              <a:rPr lang="en-US" sz="1200" b="0" strike="noStrike" spc="-1">
                <a:solidFill>
                  <a:srgbClr val="000000"/>
                </a:solidFill>
                <a:latin typeface="Arial" panose="020B0604020202020204"/>
              </a:rPr>
            </a:fld>
            <a:endParaRPr lang="en-US" sz="1200" b="0" strike="noStrike" spc="-1">
              <a:solidFill>
                <a:srgbClr val="000000"/>
              </a:solidFill>
              <a:latin typeface="Arial" panose="020B060402020202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47EA521D-9CB4-4F5A-A8FF-91A68931216D}" type="slidenum">
              <a:rPr/>
            </a:fld>
            <a:endParaRPr/>
          </a:p>
        </p:txBody>
      </p:sp>
      <p:sp>
        <p:nvSpPr>
          <p:cNvPr id="4" name="PlaceHolder 3"/>
          <p:cNvSpPr>
            <a:spLocks noGrp="1"/>
          </p:cNvSpPr>
          <p:nvPr>
            <p:ph type="dt" idx="1"/>
          </p:nvPr>
        </p:nvSpPr>
        <p:spPr/>
        <p:txBody>
          <a:bodyPr/>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209760" y="2690280"/>
            <a:ext cx="36388800" cy="5046840"/>
          </a:xfrm>
          <a:prstGeom prst="rect">
            <a:avLst/>
          </a:prstGeom>
          <a:noFill/>
          <a:ln w="0">
            <a:noFill/>
          </a:ln>
        </p:spPr>
        <p:txBody>
          <a:bodyPr lIns="449280" tIns="224640" rIns="449280" bIns="224640" anchor="ctr">
            <a:noAutofit/>
          </a:bodyPr>
          <a:p>
            <a:pPr indent="0" algn="ctr">
              <a:buNone/>
              <a:tabLst>
                <a:tab pos="0" algn="l"/>
                <a:tab pos="4490720" algn="l"/>
                <a:tab pos="8981440" algn="l"/>
              </a:tabLst>
            </a:pPr>
            <a:r>
              <a:rPr lang="en-US" sz="21600" b="0" strike="noStrike" spc="-1">
                <a:solidFill>
                  <a:srgbClr val="000000"/>
                </a:solidFill>
                <a:latin typeface="Times New Roman" panose="02020603050405020304"/>
              </a:rPr>
              <a:t>Click to edit the title text format</a:t>
            </a:r>
            <a:endParaRPr lang="en-US" sz="21600" b="0" strike="noStrike" spc="-1">
              <a:solidFill>
                <a:srgbClr val="000000"/>
              </a:solidFill>
              <a:latin typeface="Times New Roman" panose="02020603050405020304"/>
            </a:endParaRPr>
          </a:p>
        </p:txBody>
      </p:sp>
      <p:sp>
        <p:nvSpPr>
          <p:cNvPr id="2" name="PlaceHolder 2"/>
          <p:cNvSpPr>
            <a:spLocks noGrp="1"/>
          </p:cNvSpPr>
          <p:nvPr>
            <p:ph type="body"/>
          </p:nvPr>
        </p:nvSpPr>
        <p:spPr>
          <a:xfrm>
            <a:off x="3209760" y="8746920"/>
            <a:ext cx="36388800" cy="18168840"/>
          </a:xfrm>
          <a:prstGeom prst="rect">
            <a:avLst/>
          </a:prstGeom>
          <a:noFill/>
          <a:ln w="0">
            <a:noFill/>
          </a:ln>
        </p:spPr>
        <p:txBody>
          <a:bodyPr lIns="449280" tIns="224640" rIns="449280" bIns="224640" anchor="t">
            <a:normAutofit fontScale="88968"/>
          </a:bodyPr>
          <a:p>
            <a:pPr marL="1682750" indent="-1682750">
              <a:spcBef>
                <a:spcPts val="3875"/>
              </a:spcBef>
              <a:buClr>
                <a:srgbClr val="000000"/>
              </a:buClr>
              <a:buFont typeface="Times New Roman" panose="02020603050405020304"/>
              <a:buChar char="•"/>
              <a:tabLst>
                <a:tab pos="4490720" algn="l"/>
                <a:tab pos="8981440" algn="l"/>
              </a:tabLst>
            </a:pPr>
            <a:r>
              <a:rPr lang="en-US" sz="15500" b="0" strike="noStrike" spc="-1">
                <a:solidFill>
                  <a:srgbClr val="000000"/>
                </a:solidFill>
                <a:latin typeface="Times New Roman" panose="02020603050405020304"/>
              </a:rPr>
              <a:t>Click to edit the outline text format</a:t>
            </a:r>
            <a:endParaRPr lang="en-US" sz="15500" b="0" strike="noStrike" spc="-1">
              <a:solidFill>
                <a:srgbClr val="000000"/>
              </a:solidFill>
              <a:latin typeface="Times New Roman" panose="02020603050405020304"/>
            </a:endParaRPr>
          </a:p>
          <a:p>
            <a:pPr marL="3649980" lvl="1" indent="-1400175">
              <a:spcBef>
                <a:spcPts val="3875"/>
              </a:spcBef>
              <a:buClr>
                <a:srgbClr val="000000"/>
              </a:buClr>
              <a:buFont typeface="Times New Roman" panose="02020603050405020304"/>
              <a:buChar char="–"/>
              <a:tabLst>
                <a:tab pos="4490720" algn="l"/>
                <a:tab pos="8981440" algn="l"/>
              </a:tabLst>
            </a:pPr>
            <a:r>
              <a:rPr lang="en-US" sz="15500" b="0" strike="noStrike" spc="-1">
                <a:solidFill>
                  <a:srgbClr val="000000"/>
                </a:solidFill>
                <a:latin typeface="Times New Roman" panose="02020603050405020304"/>
              </a:rPr>
              <a:t>Second Outline Level</a:t>
            </a:r>
            <a:endParaRPr lang="en-US" sz="15500" b="0" strike="noStrike" spc="-1">
              <a:solidFill>
                <a:srgbClr val="000000"/>
              </a:solidFill>
              <a:latin typeface="Times New Roman" panose="02020603050405020304"/>
            </a:endParaRPr>
          </a:p>
          <a:p>
            <a:pPr marL="5614670" lvl="2" indent="-1123950">
              <a:spcBef>
                <a:spcPts val="3875"/>
              </a:spcBef>
              <a:buClr>
                <a:srgbClr val="000000"/>
              </a:buClr>
              <a:buFont typeface="Times New Roman" panose="02020603050405020304"/>
              <a:buChar char="•"/>
              <a:tabLst>
                <a:tab pos="4490720" algn="l"/>
                <a:tab pos="8981440" algn="l"/>
              </a:tabLst>
            </a:pPr>
            <a:r>
              <a:rPr lang="en-US" sz="15500" b="0" strike="noStrike" spc="-1">
                <a:solidFill>
                  <a:srgbClr val="000000"/>
                </a:solidFill>
                <a:latin typeface="Times New Roman" panose="02020603050405020304"/>
              </a:rPr>
              <a:t>Third Outline Level</a:t>
            </a:r>
            <a:endParaRPr lang="en-US" sz="15500" b="0" strike="noStrike" spc="-1">
              <a:solidFill>
                <a:srgbClr val="000000"/>
              </a:solidFill>
              <a:latin typeface="Times New Roman" panose="02020603050405020304"/>
            </a:endParaRPr>
          </a:p>
          <a:p>
            <a:pPr marL="7864475" lvl="3" indent="-1125855">
              <a:spcBef>
                <a:spcPts val="3875"/>
              </a:spcBef>
              <a:buClr>
                <a:srgbClr val="000000"/>
              </a:buClr>
              <a:buFont typeface="Times New Roman" panose="02020603050405020304"/>
              <a:buChar char="–"/>
              <a:tabLst>
                <a:tab pos="4490720" algn="l"/>
                <a:tab pos="8981440" algn="l"/>
              </a:tabLst>
            </a:pPr>
            <a:r>
              <a:rPr lang="en-US" sz="15500" b="0" strike="noStrike" spc="-1">
                <a:solidFill>
                  <a:srgbClr val="000000"/>
                </a:solidFill>
                <a:latin typeface="Times New Roman" panose="02020603050405020304"/>
              </a:rPr>
              <a:t>Fourth Outline Level</a:t>
            </a:r>
            <a:endParaRPr lang="en-US" sz="15500" b="0" strike="noStrike" spc="-1">
              <a:solidFill>
                <a:srgbClr val="000000"/>
              </a:solidFill>
              <a:latin typeface="Times New Roman" panose="02020603050405020304"/>
            </a:endParaRPr>
          </a:p>
          <a:p>
            <a:pPr marL="10106025" lvl="4" indent="-1125220">
              <a:spcBef>
                <a:spcPts val="3875"/>
              </a:spcBef>
              <a:buClr>
                <a:srgbClr val="000000"/>
              </a:buClr>
              <a:buFont typeface="Times New Roman" panose="02020603050405020304"/>
              <a:buChar char="»"/>
              <a:tabLst>
                <a:tab pos="4490720" algn="l"/>
                <a:tab pos="8981440" algn="l"/>
              </a:tabLst>
            </a:pPr>
            <a:r>
              <a:rPr lang="en-US" sz="15500" b="0" strike="noStrike" spc="-1">
                <a:solidFill>
                  <a:srgbClr val="000000"/>
                </a:solidFill>
                <a:latin typeface="Times New Roman" panose="02020603050405020304"/>
              </a:rPr>
              <a:t>Fifth Outline Level</a:t>
            </a:r>
            <a:endParaRPr lang="en-US" sz="15500" b="0" strike="noStrike" spc="-1">
              <a:solidFill>
                <a:srgbClr val="000000"/>
              </a:solidFill>
              <a:latin typeface="Times New Roman" panose="02020603050405020304"/>
            </a:endParaRPr>
          </a:p>
          <a:p>
            <a:pPr marL="10106025" lvl="5" indent="-1125220">
              <a:spcBef>
                <a:spcPts val="3875"/>
              </a:spcBef>
              <a:buClr>
                <a:srgbClr val="000000"/>
              </a:buClr>
              <a:buFont typeface="Times New Roman" panose="02020603050405020304"/>
              <a:buChar char="»"/>
              <a:tabLst>
                <a:tab pos="4490720" algn="l"/>
                <a:tab pos="8981440" algn="l"/>
              </a:tabLst>
            </a:pPr>
            <a:r>
              <a:rPr lang="en-US" sz="15500" b="0" strike="noStrike" spc="-1">
                <a:solidFill>
                  <a:srgbClr val="000000"/>
                </a:solidFill>
                <a:latin typeface="Times New Roman" panose="02020603050405020304"/>
              </a:rPr>
              <a:t>Sixth Outline Level</a:t>
            </a:r>
            <a:endParaRPr lang="en-US" sz="15500" b="0" strike="noStrike" spc="-1">
              <a:solidFill>
                <a:srgbClr val="000000"/>
              </a:solidFill>
              <a:latin typeface="Times New Roman" panose="02020603050405020304"/>
            </a:endParaRPr>
          </a:p>
          <a:p>
            <a:pPr marL="10106025" lvl="6" indent="-1125220">
              <a:spcBef>
                <a:spcPts val="3875"/>
              </a:spcBef>
              <a:buClr>
                <a:srgbClr val="000000"/>
              </a:buClr>
              <a:buFont typeface="Times New Roman" panose="02020603050405020304"/>
              <a:buChar char="»"/>
              <a:tabLst>
                <a:tab pos="4490720" algn="l"/>
                <a:tab pos="8981440" algn="l"/>
              </a:tabLst>
            </a:pPr>
            <a:r>
              <a:rPr lang="en-US" sz="15500" b="0" strike="noStrike" spc="-1">
                <a:solidFill>
                  <a:srgbClr val="000000"/>
                </a:solidFill>
                <a:latin typeface="Times New Roman" panose="02020603050405020304"/>
              </a:rPr>
              <a:t>Seventh Outline Level</a:t>
            </a:r>
            <a:endParaRPr lang="en-US" sz="15500" b="0" strike="noStrike" spc="-1">
              <a:solidFill>
                <a:srgbClr val="000000"/>
              </a:solidFill>
              <a:latin typeface="Times New Roman" panose="02020603050405020304"/>
            </a:endParaRPr>
          </a:p>
        </p:txBody>
      </p:sp>
      <p:sp>
        <p:nvSpPr>
          <p:cNvPr id="3" name="PlaceHolder 3"/>
          <p:cNvSpPr>
            <a:spLocks noGrp="1"/>
          </p:cNvSpPr>
          <p:nvPr>
            <p:ph type="dt" idx="1"/>
          </p:nvPr>
        </p:nvSpPr>
        <p:spPr>
          <a:xfrm>
            <a:off x="3209760" y="27589320"/>
            <a:ext cx="8918640" cy="2017440"/>
          </a:xfrm>
          <a:prstGeom prst="rect">
            <a:avLst/>
          </a:prstGeom>
          <a:noFill/>
          <a:ln w="0">
            <a:noFill/>
          </a:ln>
        </p:spPr>
        <p:txBody>
          <a:bodyPr lIns="449280" tIns="224640" rIns="449280" bIns="224640" anchor="t">
            <a:noAutofit/>
          </a:bodyPr>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4" name="PlaceHolder 4"/>
          <p:cNvSpPr>
            <a:spLocks noGrp="1"/>
          </p:cNvSpPr>
          <p:nvPr>
            <p:ph type="ftr" idx="2"/>
          </p:nvPr>
        </p:nvSpPr>
        <p:spPr>
          <a:xfrm>
            <a:off x="14625360" y="27589320"/>
            <a:ext cx="13557240" cy="2017440"/>
          </a:xfrm>
          <a:prstGeom prst="rect">
            <a:avLst/>
          </a:prstGeom>
          <a:noFill/>
          <a:ln w="0">
            <a:noFill/>
          </a:ln>
        </p:spPr>
        <p:txBody>
          <a:bodyPr lIns="449280" tIns="224640" rIns="449280" bIns="224640" anchor="t">
            <a:noAutofit/>
          </a:bodyPr>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5" name="PlaceHolder 5"/>
          <p:cNvSpPr>
            <a:spLocks noGrp="1"/>
          </p:cNvSpPr>
          <p:nvPr>
            <p:ph type="sldNum" idx="3"/>
          </p:nvPr>
        </p:nvSpPr>
        <p:spPr>
          <a:xfrm>
            <a:off x="30679920" y="27589320"/>
            <a:ext cx="8918640" cy="2017440"/>
          </a:xfrm>
          <a:prstGeom prst="rect">
            <a:avLst/>
          </a:prstGeom>
          <a:noFill/>
          <a:ln w="0">
            <a:noFill/>
          </a:ln>
        </p:spPr>
        <p:txBody>
          <a:bodyPr lIns="449280" tIns="224640" rIns="449280" bIns="224640" anchor="t">
            <a:noAutofit/>
          </a:bodyPr>
          <a:lstStyle>
            <a:lvl1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GB" sz="7000" b="0" strike="noStrike" spc="-1">
                <a:solidFill>
                  <a:srgbClr val="000000"/>
                </a:solidFill>
                <a:latin typeface="Times New Roman" panose="02020603050405020304"/>
              </a:defRPr>
            </a:lvl1pPr>
          </a:lstStyle>
          <a:p>
            <a:pPr indent="0" algn="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38118B2-BF46-4752-9CBD-F30A83D594C5}" type="slidenum">
              <a:rPr lang="en-GB" sz="7000" b="0" strike="noStrike" spc="-1">
                <a:solidFill>
                  <a:srgbClr val="000000"/>
                </a:solidFill>
                <a:latin typeface="Times New Roman" panose="02020603050405020304"/>
              </a:rPr>
            </a:fld>
            <a:endParaRPr lang="en-US" sz="70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Box 81"/>
          <p:cNvSpPr/>
          <p:nvPr/>
        </p:nvSpPr>
        <p:spPr>
          <a:xfrm>
            <a:off x="0" y="29298960"/>
            <a:ext cx="42808680" cy="993600"/>
          </a:xfrm>
          <a:prstGeom prst="rect">
            <a:avLst/>
          </a:prstGeom>
          <a:solidFill>
            <a:srgbClr val="006684"/>
          </a:solidFill>
          <a:ln w="0">
            <a:noFill/>
          </a:ln>
        </p:spPr>
        <p:style>
          <a:lnRef idx="0">
            <a:srgbClr val="FFFFFF"/>
          </a:lnRef>
          <a:fillRef idx="0">
            <a:srgbClr val="FFFFFF"/>
          </a:fillRef>
          <a:effectRef idx="0">
            <a:srgbClr val="FFFFFF"/>
          </a:effectRef>
          <a:fontRef idx="minor"/>
        </p:style>
        <p:txBody>
          <a:bodyPr lIns="90000" tIns="46800" rIns="90000" bIns="46800" anchor="ctr" anchorCtr="1">
            <a:noAutofit/>
          </a:bodyPr>
          <a:p>
            <a:pPr>
              <a:spcBef>
                <a:spcPts val="3375"/>
              </a:spcBef>
              <a:tabLst>
                <a:tab pos="0" algn="l"/>
                <a:tab pos="915670" algn="l"/>
                <a:tab pos="1831975" algn="l"/>
                <a:tab pos="2747645" algn="l"/>
                <a:tab pos="3663950" algn="l"/>
                <a:tab pos="4579620" algn="l"/>
                <a:tab pos="5495290" algn="l"/>
                <a:tab pos="6411595" algn="l"/>
                <a:tab pos="7327265" algn="l"/>
                <a:tab pos="8243570" algn="l"/>
                <a:tab pos="9159240" algn="l"/>
                <a:tab pos="10075545" algn="l"/>
              </a:tabLst>
            </a:pPr>
            <a:endParaRPr lang="en-US" sz="2300" b="0" strike="noStrike" spc="-1">
              <a:solidFill>
                <a:srgbClr val="000000"/>
              </a:solidFill>
              <a:latin typeface="Arial" panose="020B0604020202020204"/>
            </a:endParaRPr>
          </a:p>
        </p:txBody>
      </p:sp>
      <p:sp>
        <p:nvSpPr>
          <p:cNvPr id="13" name="Rectangle 9"/>
          <p:cNvSpPr/>
          <p:nvPr/>
        </p:nvSpPr>
        <p:spPr>
          <a:xfrm>
            <a:off x="1008000" y="29335320"/>
            <a:ext cx="30830760" cy="91692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spcBef>
                <a:spcPts val="3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400" b="1" strike="noStrike" spc="-1">
                <a:solidFill>
                  <a:srgbClr val="FFFFFF"/>
                </a:solidFill>
                <a:latin typeface="Arial" panose="020B0604020202020204"/>
                <a:ea typeface="Arial" panose="020B0604020202020204"/>
              </a:rPr>
              <a:t>Our Dedication.Your Journey.</a:t>
            </a:r>
            <a:endParaRPr lang="en-US" sz="5400" b="0" strike="noStrike" spc="-1">
              <a:solidFill>
                <a:srgbClr val="000000"/>
              </a:solidFill>
              <a:latin typeface="Arial" panose="020B0604020202020204"/>
            </a:endParaRPr>
          </a:p>
        </p:txBody>
      </p:sp>
      <p:sp>
        <p:nvSpPr>
          <p:cNvPr id="14" name="Rectangle 5"/>
          <p:cNvSpPr/>
          <p:nvPr/>
        </p:nvSpPr>
        <p:spPr>
          <a:xfrm>
            <a:off x="31964400" y="29322720"/>
            <a:ext cx="9853560" cy="91692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gn="r">
              <a:spcBef>
                <a:spcPts val="3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400" b="1" strike="noStrike" spc="-1">
                <a:solidFill>
                  <a:srgbClr val="FFFFFF"/>
                </a:solidFill>
                <a:latin typeface="Arial" panose="020B0604020202020204"/>
                <a:ea typeface="Arial" panose="020B0604020202020204"/>
              </a:rPr>
              <a:t>www.cct.ie</a:t>
            </a:r>
            <a:endParaRPr lang="en-US" sz="5400" b="0" strike="noStrike" spc="-1">
              <a:solidFill>
                <a:srgbClr val="000000"/>
              </a:solidFill>
              <a:latin typeface="Arial" panose="020B0604020202020204"/>
            </a:endParaRPr>
          </a:p>
        </p:txBody>
      </p:sp>
      <p:grpSp>
        <p:nvGrpSpPr>
          <p:cNvPr id="18" name="Group 25"/>
          <p:cNvGrpSpPr/>
          <p:nvPr/>
        </p:nvGrpSpPr>
        <p:grpSpPr>
          <a:xfrm>
            <a:off x="920880" y="4964040"/>
            <a:ext cx="12885480" cy="1099800"/>
            <a:chOff x="920880" y="4964040"/>
            <a:chExt cx="12885480" cy="1099800"/>
          </a:xfrm>
        </p:grpSpPr>
        <p:sp>
          <p:nvSpPr>
            <p:cNvPr id="19" name="Rectangle 241"/>
            <p:cNvSpPr/>
            <p:nvPr/>
          </p:nvSpPr>
          <p:spPr>
            <a:xfrm>
              <a:off x="920880" y="4964040"/>
              <a:ext cx="12885480" cy="109980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6600" b="1" strike="noStrike" spc="-1">
                  <a:solidFill>
                    <a:srgbClr val="006684"/>
                  </a:solidFill>
                  <a:latin typeface="Arial" panose="020B0604020202020204"/>
                  <a:ea typeface="Arial" panose="020B0604020202020204"/>
                </a:rPr>
                <a:t>What is Computer Vision?</a:t>
              </a:r>
              <a:endParaRPr lang="en-US" sz="6600" b="0" strike="noStrike" spc="-1">
                <a:solidFill>
                  <a:srgbClr val="000000"/>
                </a:solidFill>
                <a:latin typeface="Arial" panose="020B0604020202020204"/>
              </a:endParaRPr>
            </a:p>
          </p:txBody>
        </p:sp>
        <p:sp>
          <p:nvSpPr>
            <p:cNvPr id="20" name="Straight Connector 6"/>
            <p:cNvSpPr/>
            <p:nvPr/>
          </p:nvSpPr>
          <p:spPr>
            <a:xfrm>
              <a:off x="1060560" y="5107680"/>
              <a:ext cx="12745800" cy="0"/>
            </a:xfrm>
            <a:prstGeom prst="line">
              <a:avLst/>
            </a:prstGeom>
            <a:ln w="12600">
              <a:solidFill>
                <a:srgbClr val="006684"/>
              </a:solidFill>
              <a:miter/>
            </a:ln>
          </p:spPr>
          <p:style>
            <a:lnRef idx="0">
              <a:srgbClr val="FFFFFF"/>
            </a:lnRef>
            <a:fillRef idx="0">
              <a:srgbClr val="FFFFFF"/>
            </a:fillRef>
            <a:effectRef idx="0">
              <a:srgbClr val="FFFFFF"/>
            </a:effectRef>
            <a:fontRef idx="minor"/>
          </p:style>
          <p:txBody>
            <a:bodyPr lIns="90000" tIns="-46800" rIns="90000" bIns="-46800" anchor="t">
              <a:noAutofit/>
            </a:bodyPr>
            <a:p>
              <a:endParaRPr lang="en-US" sz="2300" b="0" strike="noStrike" spc="-1">
                <a:solidFill>
                  <a:srgbClr val="000000"/>
                </a:solidFill>
                <a:latin typeface="Arial" panose="020B0604020202020204"/>
              </a:endParaRPr>
            </a:p>
          </p:txBody>
        </p:sp>
      </p:grpSp>
      <p:sp>
        <p:nvSpPr>
          <p:cNvPr id="21" name="Rectangle 24"/>
          <p:cNvSpPr/>
          <p:nvPr/>
        </p:nvSpPr>
        <p:spPr>
          <a:xfrm>
            <a:off x="952560" y="6154560"/>
            <a:ext cx="12936600" cy="72864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5000"/>
              </a:lnSpc>
            </a:pPr>
            <a:r>
              <a:rPr lang="en-GB" sz="3600" b="0" strike="noStrike" spc="-1">
                <a:solidFill>
                  <a:srgbClr val="000000"/>
                </a:solidFill>
                <a:latin typeface="Arial" panose="020B0604020202020204"/>
                <a:ea typeface="Arial" panose="020B0604020202020204"/>
              </a:rPr>
              <a:t>Computer vision is a branch of artificial intelligence that enables machines to interpret and understand images and videos (Szeliski, 2022). To a computer, an image is a grid of tiny squares called pixels, each storing a number that represents its colour or brightness. A camera first captures the scene; an AI model, typically a Convolutional Neural Network (CNN), then identifies patterns such as edges, shapes and objects, and finally produces a meaningful output, such as recognising a face (Szeliski, 2022).</a:t>
            </a:r>
            <a:endParaRPr lang="en-GB" sz="3600" b="0" strike="noStrike" spc="-1">
              <a:solidFill>
                <a:srgbClr val="000000"/>
              </a:solidFill>
              <a:latin typeface="Arial" panose="020B0604020202020204"/>
            </a:endParaRPr>
          </a:p>
          <a:p>
            <a:pPr>
              <a:lnSpc>
                <a:spcPts val="5000"/>
              </a:lnSpc>
              <a:spcBef>
                <a:spcPts val="1800"/>
              </a:spcBef>
            </a:pPr>
            <a:r>
              <a:rPr lang="en-GB" sz="3600" b="0" strike="noStrike" spc="-1">
                <a:solidFill>
                  <a:srgbClr val="000000"/>
                </a:solidFill>
                <a:latin typeface="Arial" panose="020B0604020202020204"/>
                <a:ea typeface="Arial" panose="020B0604020202020204"/>
              </a:rPr>
              <a:t>The field emerged at MIT in the 1960s, when researchers first attempted to teach computers to perceive three-dimensional objects (Roberts, 1963). In the 1990s, CNNs learned to read handwritten digits (LeCun et al., 1998), and in 2012 deep learning dramatically improved object recognition (Krizhevsky, Sutskever and Hinton, 2012).</a:t>
            </a:r>
            <a:endParaRPr lang="en-GB" sz="3600" b="0" strike="noStrike" spc="-1">
              <a:solidFill>
                <a:srgbClr val="000000"/>
              </a:solidFill>
              <a:latin typeface="Arial" panose="020B0604020202020204"/>
            </a:endParaRPr>
          </a:p>
          <a:p>
            <a:pPr>
              <a:lnSpc>
                <a:spcPts val="5000"/>
              </a:lnSpc>
              <a:spcBef>
                <a:spcPts val="1800"/>
              </a:spcBef>
            </a:pPr>
            <a:r>
              <a:rPr lang="en-GB" sz="3600" b="0" strike="noStrike" spc="-1">
                <a:solidFill>
                  <a:srgbClr val="000000"/>
                </a:solidFill>
                <a:latin typeface="Arial" panose="020B0604020202020204"/>
                <a:ea typeface="Arial" panose="020B0604020202020204"/>
              </a:rPr>
              <a:t>Key applications include:</a:t>
            </a:r>
            <a:endParaRPr lang="en-GB" sz="3600" b="0" strike="noStrike" spc="-1">
              <a:solidFill>
                <a:srgbClr val="000000"/>
              </a:solidFill>
              <a:latin typeface="Arial" panose="020B0604020202020204"/>
            </a:endParaRPr>
          </a:p>
          <a:p>
            <a:pPr marL="457200" indent="-457200">
              <a:lnSpc>
                <a:spcPts val="5000"/>
              </a:lnSpc>
              <a:spcBef>
                <a:spcPts val="1200"/>
              </a:spcBef>
              <a:buClr>
                <a:srgbClr val="000000"/>
              </a:buClr>
              <a:buFont typeface="Arial" panose="020B0604020202020204"/>
              <a:buChar char="•"/>
            </a:pPr>
            <a:r>
              <a:rPr lang="en-GB" sz="3600" b="0" strike="noStrike" spc="-1">
                <a:solidFill>
                  <a:srgbClr val="000000"/>
                </a:solidFill>
                <a:latin typeface="Arial" panose="020B0604020202020204"/>
                <a:ea typeface="Arial" panose="020B0604020202020204"/>
              </a:rPr>
              <a:t>Facial recognition and smartphone unlocking</a:t>
            </a:r>
            <a:endParaRPr lang="en-GB" sz="3600" b="0" strike="noStrike" spc="-1">
              <a:solidFill>
                <a:srgbClr val="000000"/>
              </a:solidFill>
              <a:latin typeface="Arial" panose="020B0604020202020204"/>
            </a:endParaRPr>
          </a:p>
          <a:p>
            <a:pPr marL="457200" indent="-457200">
              <a:lnSpc>
                <a:spcPts val="5000"/>
              </a:lnSpc>
              <a:spcBef>
                <a:spcPts val="1200"/>
              </a:spcBef>
              <a:buClr>
                <a:srgbClr val="000000"/>
              </a:buClr>
              <a:buFont typeface="Arial" panose="020B0604020202020204"/>
              <a:buChar char="•"/>
            </a:pPr>
            <a:r>
              <a:rPr lang="en-GB" sz="3600" b="0" strike="noStrike" spc="-1">
                <a:solidFill>
                  <a:srgbClr val="000000"/>
                </a:solidFill>
                <a:latin typeface="Arial" panose="020B0604020202020204"/>
                <a:ea typeface="Arial" panose="020B0604020202020204"/>
              </a:rPr>
              <a:t>Self-driving cars</a:t>
            </a:r>
            <a:endParaRPr lang="en-GB" sz="3600" b="0" strike="noStrike" spc="-1">
              <a:solidFill>
                <a:srgbClr val="000000"/>
              </a:solidFill>
              <a:latin typeface="Arial" panose="020B0604020202020204"/>
            </a:endParaRPr>
          </a:p>
          <a:p>
            <a:pPr marL="457200" indent="-457200">
              <a:lnSpc>
                <a:spcPts val="5000"/>
              </a:lnSpc>
              <a:spcBef>
                <a:spcPts val="1200"/>
              </a:spcBef>
              <a:buClr>
                <a:srgbClr val="000000"/>
              </a:buClr>
              <a:buFont typeface="Arial" panose="020B0604020202020204"/>
              <a:buChar char="•"/>
            </a:pPr>
            <a:r>
              <a:rPr lang="en-GB" sz="3600" b="0" strike="noStrike" spc="-1">
                <a:solidFill>
                  <a:srgbClr val="000000"/>
                </a:solidFill>
                <a:latin typeface="Arial" panose="020B0604020202020204"/>
                <a:ea typeface="Arial" panose="020B0604020202020204"/>
              </a:rPr>
              <a:t>Intelligent security cameras</a:t>
            </a:r>
            <a:endParaRPr lang="en-GB" sz="3600" b="0" strike="noStrike" spc="-1">
              <a:solidFill>
                <a:srgbClr val="000000"/>
              </a:solidFill>
              <a:latin typeface="Arial" panose="020B0604020202020204"/>
            </a:endParaRPr>
          </a:p>
          <a:p>
            <a:pPr marL="457200" indent="-457200">
              <a:lnSpc>
                <a:spcPts val="5000"/>
              </a:lnSpc>
              <a:spcBef>
                <a:spcPts val="1200"/>
              </a:spcBef>
              <a:buClr>
                <a:srgbClr val="000000"/>
              </a:buClr>
              <a:buFont typeface="Arial" panose="020B0604020202020204"/>
              <a:buChar char="•"/>
            </a:pPr>
            <a:r>
              <a:rPr lang="en-GB" sz="3600" b="0" strike="noStrike" spc="-1">
                <a:solidFill>
                  <a:srgbClr val="000000"/>
                </a:solidFill>
                <a:latin typeface="Arial" panose="020B0604020202020204"/>
                <a:ea typeface="Arial" panose="020B0604020202020204"/>
              </a:rPr>
              <a:t>Medical imaging and skin-cancer detection (Esteva et al., 2017)</a:t>
            </a:r>
            <a:endParaRPr lang="en-GB" sz="3600" b="0" strike="noStrike" spc="-1">
              <a:solidFill>
                <a:srgbClr val="000000"/>
              </a:solidFill>
              <a:latin typeface="Arial" panose="020B0604020202020204"/>
            </a:endParaRPr>
          </a:p>
        </p:txBody>
      </p:sp>
      <p:sp>
        <p:nvSpPr>
          <p:cNvPr id="23" name="Rectangle 20"/>
          <p:cNvSpPr/>
          <p:nvPr/>
        </p:nvSpPr>
        <p:spPr>
          <a:xfrm>
            <a:off x="28943280" y="14419440"/>
            <a:ext cx="12787200" cy="46188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24" name="Rectangle 20"/>
          <p:cNvSpPr/>
          <p:nvPr/>
        </p:nvSpPr>
        <p:spPr>
          <a:xfrm>
            <a:off x="15017760" y="28150000"/>
            <a:ext cx="12787200" cy="52560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34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strike="noStrike" spc="-1">
                <a:solidFill>
                  <a:srgbClr val="000000"/>
                </a:solidFill>
                <a:latin typeface="Arial" panose="020B0604020202020204"/>
                <a:ea typeface="Arial" panose="020B0604020202020204"/>
              </a:rPr>
              <a:t>Fig. 2</a:t>
            </a:r>
            <a:r>
              <a:rPr lang="en-GB" sz="2400" b="0" strike="noStrike" spc="-1">
                <a:solidFill>
                  <a:srgbClr val="000000"/>
                </a:solidFill>
                <a:latin typeface="Arial" panose="020B0604020202020204"/>
                <a:ea typeface="Arial" panose="020B0604020202020204"/>
              </a:rPr>
              <a:t> Facial recognition matching a face to an identity database (own illustration)</a:t>
            </a:r>
            <a:endParaRPr lang="en-US" sz="2400" b="0" strike="noStrike" spc="-1">
              <a:solidFill>
                <a:srgbClr val="000000"/>
              </a:solidFill>
              <a:latin typeface="Arial" panose="020B0604020202020204"/>
            </a:endParaRPr>
          </a:p>
        </p:txBody>
      </p:sp>
      <p:sp>
        <p:nvSpPr>
          <p:cNvPr id="25" name="Rectangle 30"/>
          <p:cNvSpPr/>
          <p:nvPr/>
        </p:nvSpPr>
        <p:spPr>
          <a:xfrm>
            <a:off x="15109920" y="24000000"/>
            <a:ext cx="517320" cy="64620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27" name="Rectangle 102"/>
          <p:cNvSpPr/>
          <p:nvPr/>
        </p:nvSpPr>
        <p:spPr>
          <a:xfrm>
            <a:off x="15109920" y="26000000"/>
            <a:ext cx="517320" cy="64764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28" name="Rectangle 106"/>
          <p:cNvSpPr/>
          <p:nvPr/>
        </p:nvSpPr>
        <p:spPr>
          <a:xfrm>
            <a:off x="28943280" y="6221520"/>
            <a:ext cx="12787200" cy="387648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5000"/>
              </a:lnSpc>
            </a:pPr>
            <a:r>
              <a:rPr lang="en-GB" sz="3600" b="0" strike="noStrike" spc="-1">
                <a:solidFill>
                  <a:srgbClr val="000000"/>
                </a:solidFill>
                <a:latin typeface="Arial" panose="020B0604020202020204"/>
                <a:ea typeface="Arial" panose="020B0604020202020204"/>
              </a:rPr>
              <a:t>In January 2020, Detroit police arrested Robert Williams, a Black man, at his home in front of his family (Hill, 2020). A facial recognition system had wrongly matched his driving licence photo to CCTV footage of a shoplifting incident, and he was detained overnight for a crime he did not commit.</a:t>
            </a:r>
            <a:endParaRPr lang="en-GB" sz="3600" b="0" strike="noStrike" spc="-1">
              <a:solidFill>
                <a:srgbClr val="000000"/>
              </a:solidFill>
              <a:latin typeface="Arial" panose="020B0604020202020204"/>
            </a:endParaRPr>
          </a:p>
          <a:p>
            <a:pPr>
              <a:lnSpc>
                <a:spcPts val="5000"/>
              </a:lnSpc>
              <a:spcBef>
                <a:spcPts val="1800"/>
              </a:spcBef>
            </a:pPr>
            <a:r>
              <a:rPr lang="en-GB" sz="3600" b="0" strike="noStrike" spc="-1">
                <a:solidFill>
                  <a:srgbClr val="000000"/>
                </a:solidFill>
                <a:latin typeface="Arial" panose="020B0604020202020204"/>
                <a:ea typeface="Arial" panose="020B0604020202020204"/>
              </a:rPr>
              <a:t>This case illustrates the bias Buolamwini and Gebru (2018) had already warned about. Officers trusted the algorithm without proper human verification, harming an innocent family. In 2024, Detroit agreed to pay $300,000 and banned arrests based solely on facial recognition results (White, 2024). This demonstrates that technology must not replace human judgement.</a:t>
            </a:r>
            <a:endParaRPr lang="en-GB" sz="3600" b="0" strike="noStrike" spc="-1">
              <a:solidFill>
                <a:srgbClr val="000000"/>
              </a:solidFill>
              <a:latin typeface="Arial" panose="020B0604020202020204"/>
            </a:endParaRPr>
          </a:p>
        </p:txBody>
      </p:sp>
      <p:sp>
        <p:nvSpPr>
          <p:cNvPr id="95" name="Rectangle 106"/>
          <p:cNvSpPr/>
          <p:nvPr/>
        </p:nvSpPr>
        <p:spPr>
          <a:xfrm>
            <a:off x="28943280" y="15499560"/>
            <a:ext cx="12787200" cy="387648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5000"/>
              </a:lnSpc>
            </a:pPr>
            <a:r>
              <a:rPr lang="en-GB" sz="3600" b="0" strike="noStrike" spc="-1">
                <a:solidFill>
                  <a:srgbClr val="000000"/>
                </a:solidFill>
                <a:latin typeface="Arial" panose="020B0604020202020204"/>
                <a:ea typeface="Arial" panose="020B0604020202020204"/>
              </a:rPr>
              <a:t>The Williams case shows that computer vision should support, not replace, human decisions. First, police should treat facial recognition matches only as leads requiring officer verification (White, 2024). Second, developers must test systems on diverse datasets to reduce bias (Buolamwini and Gebru, 2018). Third, regulation such as the EU AI Act, backed by independent audits, can limit misuse (European Union, 2024). Finally, greater transparency would build public trust, increasing benefits in healthcare and accessibility.</a:t>
            </a:r>
            <a:endParaRPr lang="en-GB" sz="3600" b="0" strike="noStrike" spc="-1">
              <a:solidFill>
                <a:srgbClr val="000000"/>
              </a:solidFill>
              <a:latin typeface="Arial" panose="020B0604020202020204"/>
            </a:endParaRPr>
          </a:p>
        </p:txBody>
      </p:sp>
      <p:grpSp>
        <p:nvGrpSpPr>
          <p:cNvPr id="29" name="Group 107"/>
          <p:cNvGrpSpPr/>
          <p:nvPr/>
        </p:nvGrpSpPr>
        <p:grpSpPr>
          <a:xfrm>
            <a:off x="15016320" y="4975200"/>
            <a:ext cx="12885480" cy="1099800"/>
            <a:chOff x="15016320" y="4975200"/>
            <a:chExt cx="12885480" cy="1099800"/>
          </a:xfrm>
        </p:grpSpPr>
        <p:sp>
          <p:nvSpPr>
            <p:cNvPr id="30" name="Rectangle 249"/>
            <p:cNvSpPr/>
            <p:nvPr/>
          </p:nvSpPr>
          <p:spPr>
            <a:xfrm>
              <a:off x="15016320" y="4975200"/>
              <a:ext cx="12885480" cy="109980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6600" b="1" strike="noStrike" spc="-1">
                  <a:solidFill>
                    <a:srgbClr val="006684"/>
                  </a:solidFill>
                  <a:latin typeface="Arial" panose="020B0604020202020204"/>
                  <a:ea typeface="Arial" panose="020B0604020202020204"/>
                </a:rPr>
                <a:t>Ethical, Legal &amp; Social Impact</a:t>
              </a:r>
              <a:endParaRPr lang="en-US" sz="6600" b="0" strike="noStrike" spc="-1">
                <a:solidFill>
                  <a:srgbClr val="000000"/>
                </a:solidFill>
                <a:latin typeface="Arial" panose="020B0604020202020204"/>
              </a:endParaRPr>
            </a:p>
          </p:txBody>
        </p:sp>
        <p:sp>
          <p:nvSpPr>
            <p:cNvPr id="31" name="Straight Connector 6"/>
            <p:cNvSpPr/>
            <p:nvPr/>
          </p:nvSpPr>
          <p:spPr>
            <a:xfrm>
              <a:off x="15140880" y="5101560"/>
              <a:ext cx="12744000" cy="0"/>
            </a:xfrm>
            <a:prstGeom prst="line">
              <a:avLst/>
            </a:prstGeom>
            <a:ln w="12600">
              <a:solidFill>
                <a:srgbClr val="006684"/>
              </a:solidFill>
              <a:miter/>
            </a:ln>
          </p:spPr>
          <p:style>
            <a:lnRef idx="0">
              <a:srgbClr val="FFFFFF"/>
            </a:lnRef>
            <a:fillRef idx="0">
              <a:srgbClr val="FFFFFF"/>
            </a:fillRef>
            <a:effectRef idx="0">
              <a:srgbClr val="FFFFFF"/>
            </a:effectRef>
            <a:fontRef idx="minor"/>
          </p:style>
          <p:txBody>
            <a:bodyPr lIns="90000" tIns="-46800" rIns="90000" bIns="-46800" anchor="t">
              <a:noAutofit/>
            </a:bodyPr>
            <a:p>
              <a:endParaRPr lang="en-US" sz="2300" b="0" strike="noStrike" spc="-1">
                <a:solidFill>
                  <a:srgbClr val="000000"/>
                </a:solidFill>
                <a:latin typeface="Arial" panose="020B0604020202020204"/>
              </a:endParaRPr>
            </a:p>
          </p:txBody>
        </p:sp>
      </p:grpSp>
      <p:sp>
        <p:nvSpPr>
          <p:cNvPr id="32" name="Rectangle 20"/>
          <p:cNvSpPr/>
          <p:nvPr/>
        </p:nvSpPr>
        <p:spPr>
          <a:xfrm>
            <a:off x="28946520" y="21950000"/>
            <a:ext cx="12306240" cy="80496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2200"/>
              </a:lnSpc>
              <a:spcAft>
                <a:spcPts val="1200"/>
              </a:spcAft>
            </a:pPr>
            <a:r>
              <a:rPr lang="en-GB" sz="3600" b="1" strike="noStrike" spc="-1">
                <a:solidFill>
                  <a:srgbClr val="000000"/>
                </a:solidFill>
                <a:latin typeface="Arial" panose="020B0604020202020204"/>
                <a:ea typeface="Arial" panose="020B0604020202020204"/>
              </a:rPr>
              <a:t>References</a:t>
            </a:r>
            <a:endParaRPr lang="en-GB" sz="36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Buolamwini, J. and Gebru, T. (2018) ‘Gender shades: intersectional accuracy disparities in commercial gender classification’, </a:t>
            </a:r>
            <a:r>
              <a:rPr lang="en-GB" sz="1500" b="0" i="1" strike="noStrike" spc="-1">
                <a:solidFill>
                  <a:srgbClr val="000000"/>
                </a:solidFill>
                <a:latin typeface="Arial" panose="020B0604020202020204"/>
                <a:ea typeface="Arial" panose="020B0604020202020204"/>
              </a:rPr>
              <a:t>Proceedings of the 1st Conference on Fairness, Accountability and Transparency</a:t>
            </a:r>
            <a:r>
              <a:rPr lang="en-GB" sz="1500" b="0" strike="noStrike" spc="-1">
                <a:solidFill>
                  <a:srgbClr val="000000"/>
                </a:solidFill>
                <a:latin typeface="Arial" panose="020B0604020202020204"/>
                <a:ea typeface="Arial" panose="020B0604020202020204"/>
              </a:rPr>
              <a:t>, PMLR 81, pp. 77–91.</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Esteva, A., Kuprel, B., Novoa, R.A., Ko, J., Swetter, S.M., Blau, H.M. and Thrun, S. (2017) ‘Dermatologist-level classification of skin cancer with deep neural networks’, </a:t>
            </a:r>
            <a:r>
              <a:rPr lang="en-GB" sz="1500" b="0" i="1" strike="noStrike" spc="-1">
                <a:solidFill>
                  <a:srgbClr val="000000"/>
                </a:solidFill>
                <a:latin typeface="Arial" panose="020B0604020202020204"/>
                <a:ea typeface="Arial" panose="020B0604020202020204"/>
              </a:rPr>
              <a:t>Nature</a:t>
            </a:r>
            <a:r>
              <a:rPr lang="en-GB" sz="1500" b="0" strike="noStrike" spc="-1">
                <a:solidFill>
                  <a:srgbClr val="000000"/>
                </a:solidFill>
                <a:latin typeface="Arial" panose="020B0604020202020204"/>
                <a:ea typeface="Arial" panose="020B0604020202020204"/>
              </a:rPr>
              <a:t>, 542(7639), pp. 115–118.</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European Union (2016) </a:t>
            </a:r>
            <a:r>
              <a:rPr lang="en-GB" sz="1500" b="0" i="1" strike="noStrike" spc="-1">
                <a:solidFill>
                  <a:srgbClr val="000000"/>
                </a:solidFill>
                <a:latin typeface="Arial" panose="020B0604020202020204"/>
                <a:ea typeface="Arial" panose="020B0604020202020204"/>
              </a:rPr>
              <a:t>General Data Protection Regulation (EU) 2016/679</a:t>
            </a:r>
            <a:r>
              <a:rPr lang="en-GB" sz="1500" b="0" strike="noStrike" spc="-1">
                <a:solidFill>
                  <a:srgbClr val="000000"/>
                </a:solidFill>
                <a:latin typeface="Arial" panose="020B0604020202020204"/>
                <a:ea typeface="Arial" panose="020B0604020202020204"/>
              </a:rPr>
              <a:t>. Official Journal of the European Union, L 119.</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European Union (2024) </a:t>
            </a:r>
            <a:r>
              <a:rPr lang="en-GB" sz="1500" b="0" i="1" strike="noStrike" spc="-1">
                <a:solidFill>
                  <a:srgbClr val="000000"/>
                </a:solidFill>
                <a:latin typeface="Arial" panose="020B0604020202020204"/>
                <a:ea typeface="Arial" panose="020B0604020202020204"/>
              </a:rPr>
              <a:t>Artificial Intelligence Act (EU) 2024/1689</a:t>
            </a:r>
            <a:r>
              <a:rPr lang="en-GB" sz="1500" b="0" strike="noStrike" spc="-1">
                <a:solidFill>
                  <a:srgbClr val="000000"/>
                </a:solidFill>
                <a:latin typeface="Arial" panose="020B0604020202020204"/>
                <a:ea typeface="Arial" panose="020B0604020202020204"/>
              </a:rPr>
              <a:t>. Official Journal of the European Union, L series.</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Hill, K. (2020) ‘Wrongfully accused by an algorithm’, </a:t>
            </a:r>
            <a:r>
              <a:rPr lang="en-GB" sz="1500" b="0" i="1" strike="noStrike" spc="-1">
                <a:solidFill>
                  <a:srgbClr val="000000"/>
                </a:solidFill>
                <a:latin typeface="Arial" panose="020B0604020202020204"/>
                <a:ea typeface="Arial" panose="020B0604020202020204"/>
              </a:rPr>
              <a:t>The New York Times</a:t>
            </a:r>
            <a:r>
              <a:rPr lang="en-GB" sz="1500" b="0" strike="noStrike" spc="-1">
                <a:solidFill>
                  <a:srgbClr val="000000"/>
                </a:solidFill>
                <a:latin typeface="Arial" panose="020B0604020202020204"/>
                <a:ea typeface="Arial" panose="020B0604020202020204"/>
              </a:rPr>
              <a:t>, 24 June. Available at: https://www.nytimes.com/2020/06/24/technology/facial-recognition-arrest.html (Accessed: 16 October 2026).</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Krizhevsky, A., Sutskever, I. and Hinton, G.E. (2012) ‘ImageNet classification with deep convolutional neural networks’, </a:t>
            </a:r>
            <a:r>
              <a:rPr lang="en-GB" sz="1500" b="0" i="1" strike="noStrike" spc="-1">
                <a:solidFill>
                  <a:srgbClr val="000000"/>
                </a:solidFill>
                <a:latin typeface="Arial" panose="020B0604020202020204"/>
                <a:ea typeface="Arial" panose="020B0604020202020204"/>
              </a:rPr>
              <a:t>Advances in Neural Information Processing Systems</a:t>
            </a:r>
            <a:r>
              <a:rPr lang="en-GB" sz="1500" b="0" strike="noStrike" spc="-1">
                <a:solidFill>
                  <a:srgbClr val="000000"/>
                </a:solidFill>
                <a:latin typeface="Arial" panose="020B0604020202020204"/>
                <a:ea typeface="Arial" panose="020B0604020202020204"/>
              </a:rPr>
              <a:t>, 25, pp. 1097–1105.</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LeCun, Y., Bottou, L., Bengio, Y. and Haffner, P. (1998) ‘Gradient-based learning applied to document recognition’, </a:t>
            </a:r>
            <a:r>
              <a:rPr lang="en-GB" sz="1500" b="0" i="1" strike="noStrike" spc="-1">
                <a:solidFill>
                  <a:srgbClr val="000000"/>
                </a:solidFill>
                <a:latin typeface="Arial" panose="020B0604020202020204"/>
                <a:ea typeface="Arial" panose="020B0604020202020204"/>
              </a:rPr>
              <a:t>Proceedings of the IEEE</a:t>
            </a:r>
            <a:r>
              <a:rPr lang="en-GB" sz="1500" b="0" strike="noStrike" spc="-1">
                <a:solidFill>
                  <a:srgbClr val="000000"/>
                </a:solidFill>
                <a:latin typeface="Arial" panose="020B0604020202020204"/>
                <a:ea typeface="Arial" panose="020B0604020202020204"/>
              </a:rPr>
              <a:t>, 86(11), pp. 2278–2324.</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Manduchi, R. and Coughlan, J. (2012) ‘(Computer) vision without sight’, </a:t>
            </a:r>
            <a:r>
              <a:rPr lang="en-GB" sz="1500" b="0" i="1" strike="noStrike" spc="-1">
                <a:solidFill>
                  <a:srgbClr val="000000"/>
                </a:solidFill>
                <a:latin typeface="Arial" panose="020B0604020202020204"/>
                <a:ea typeface="Arial" panose="020B0604020202020204"/>
              </a:rPr>
              <a:t>Communications of the ACM</a:t>
            </a:r>
            <a:r>
              <a:rPr lang="en-GB" sz="1500" b="0" strike="noStrike" spc="-1">
                <a:solidFill>
                  <a:srgbClr val="000000"/>
                </a:solidFill>
                <a:latin typeface="Arial" panose="020B0604020202020204"/>
                <a:ea typeface="Arial" panose="020B0604020202020204"/>
              </a:rPr>
              <a:t>, 55(1), pp. 96–104.</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Roberts, L.G. (1963) </a:t>
            </a:r>
            <a:r>
              <a:rPr lang="en-GB" sz="1500" b="0" i="1" strike="noStrike" spc="-1">
                <a:solidFill>
                  <a:srgbClr val="000000"/>
                </a:solidFill>
                <a:latin typeface="Arial" panose="020B0604020202020204"/>
                <a:ea typeface="Arial" panose="020B0604020202020204"/>
              </a:rPr>
              <a:t>Machine perception of three-dimensional solids</a:t>
            </a:r>
            <a:r>
              <a:rPr lang="en-GB" sz="1500" b="0" strike="noStrike" spc="-1">
                <a:solidFill>
                  <a:srgbClr val="000000"/>
                </a:solidFill>
                <a:latin typeface="Arial" panose="020B0604020202020204"/>
                <a:ea typeface="Arial" panose="020B0604020202020204"/>
              </a:rPr>
              <a:t>. PhD thesis. Massachusetts Institute of Technology.</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Szeliski, R. (2022) </a:t>
            </a:r>
            <a:r>
              <a:rPr lang="en-GB" sz="1500" b="0" i="1" strike="noStrike" spc="-1">
                <a:solidFill>
                  <a:srgbClr val="000000"/>
                </a:solidFill>
                <a:latin typeface="Arial" panose="020B0604020202020204"/>
                <a:ea typeface="Arial" panose="020B0604020202020204"/>
              </a:rPr>
              <a:t>Computer vision: algorithms and applications</a:t>
            </a:r>
            <a:r>
              <a:rPr lang="en-GB" sz="1500" b="0" strike="noStrike" spc="-1">
                <a:solidFill>
                  <a:srgbClr val="000000"/>
                </a:solidFill>
                <a:latin typeface="Arial" panose="020B0604020202020204"/>
                <a:ea typeface="Arial" panose="020B0604020202020204"/>
              </a:rPr>
              <a:t>. 2nd edn. Cham: Springer.</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White, E. (2024) ‘Detroit paying $300,000 to man wrongly accused of theft, making changes in use of facial technology’, </a:t>
            </a:r>
            <a:r>
              <a:rPr lang="en-GB" sz="1500" b="0" i="1" strike="noStrike" spc="-1">
                <a:solidFill>
                  <a:srgbClr val="000000"/>
                </a:solidFill>
                <a:latin typeface="Arial" panose="020B0604020202020204"/>
                <a:ea typeface="Arial" panose="020B0604020202020204"/>
              </a:rPr>
              <a:t>Associated Press</a:t>
            </a:r>
            <a:r>
              <a:rPr lang="en-GB" sz="1500" b="0" strike="noStrike" spc="-1">
                <a:solidFill>
                  <a:srgbClr val="000000"/>
                </a:solidFill>
                <a:latin typeface="Arial" panose="020B0604020202020204"/>
                <a:ea typeface="Arial" panose="020B0604020202020204"/>
              </a:rPr>
              <a:t>, 28 June. Available at: https://www.news4jax.com/tech/2024/06/28/detroit-paying-300000-to-man-wrongly-accused-of-theft-making-changes-in-use-of-facial-technology/ (Accessed: 16 October 2026).</a:t>
            </a:r>
            <a:endParaRPr lang="en-GB" sz="1500" b="0" strike="noStrike" spc="-1">
              <a:solidFill>
                <a:srgbClr val="000000"/>
              </a:solidFill>
              <a:latin typeface="Arial" panose="020B0604020202020204"/>
            </a:endParaRPr>
          </a:p>
          <a:p>
            <a:pPr>
              <a:lnSpc>
                <a:spcPts val="2200"/>
              </a:lnSpc>
              <a:spcAft>
                <a:spcPts val="600"/>
              </a:spcAft>
            </a:pPr>
            <a:r>
              <a:rPr lang="en-GB" sz="1500" b="0" strike="noStrike" spc="-1">
                <a:solidFill>
                  <a:srgbClr val="000000"/>
                </a:solidFill>
                <a:latin typeface="Arial" panose="020B0604020202020204"/>
                <a:ea typeface="Arial" panose="020B0604020202020204"/>
              </a:rPr>
              <a:t>Zuboff, S. (2019) </a:t>
            </a:r>
            <a:r>
              <a:rPr lang="en-GB" sz="1500" b="0" i="1" strike="noStrike" spc="-1">
                <a:solidFill>
                  <a:srgbClr val="000000"/>
                </a:solidFill>
                <a:latin typeface="Arial" panose="020B0604020202020204"/>
                <a:ea typeface="Arial" panose="020B0604020202020204"/>
              </a:rPr>
              <a:t>The age of surveillance capitalism: the fight for a human future at the new frontier of power</a:t>
            </a:r>
            <a:r>
              <a:rPr lang="en-GB" sz="1500" b="0" strike="noStrike" spc="-1">
                <a:solidFill>
                  <a:srgbClr val="000000"/>
                </a:solidFill>
                <a:latin typeface="Arial" panose="020B0604020202020204"/>
                <a:ea typeface="Arial" panose="020B0604020202020204"/>
              </a:rPr>
              <a:t>. London: Profile Books.</a:t>
            </a:r>
            <a:endParaRPr lang="en-GB" sz="1500" b="0" strike="noStrike" spc="-1">
              <a:solidFill>
                <a:srgbClr val="000000"/>
              </a:solidFill>
              <a:latin typeface="Arial" panose="020B0604020202020204"/>
            </a:endParaRPr>
          </a:p>
        </p:txBody>
      </p:sp>
      <p:grpSp>
        <p:nvGrpSpPr>
          <p:cNvPr id="33" name="Group 107"/>
          <p:cNvGrpSpPr/>
          <p:nvPr/>
        </p:nvGrpSpPr>
        <p:grpSpPr>
          <a:xfrm>
            <a:off x="28918080" y="4971960"/>
            <a:ext cx="12885480" cy="1099800"/>
            <a:chOff x="28918080" y="4971960"/>
            <a:chExt cx="12885480" cy="1099800"/>
          </a:xfrm>
        </p:grpSpPr>
        <p:sp>
          <p:nvSpPr>
            <p:cNvPr id="34" name="Rectangle 249"/>
            <p:cNvSpPr/>
            <p:nvPr/>
          </p:nvSpPr>
          <p:spPr>
            <a:xfrm>
              <a:off x="28918080" y="4971960"/>
              <a:ext cx="12885480" cy="109980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6600" b="1" strike="noStrike" spc="-1">
                  <a:solidFill>
                    <a:srgbClr val="006684"/>
                  </a:solidFill>
                  <a:latin typeface="Arial" panose="020B0604020202020204"/>
                  <a:ea typeface="Arial" panose="020B0604020202020204"/>
                </a:rPr>
                <a:t>Use Case</a:t>
              </a:r>
              <a:endParaRPr lang="en-US" sz="6600" b="0" strike="noStrike" spc="-1">
                <a:solidFill>
                  <a:srgbClr val="000000"/>
                </a:solidFill>
                <a:latin typeface="Arial" panose="020B0604020202020204"/>
              </a:endParaRPr>
            </a:p>
          </p:txBody>
        </p:sp>
        <p:sp>
          <p:nvSpPr>
            <p:cNvPr id="35" name="Straight Connector 6"/>
            <p:cNvSpPr/>
            <p:nvPr/>
          </p:nvSpPr>
          <p:spPr>
            <a:xfrm>
              <a:off x="29042640" y="5098320"/>
              <a:ext cx="12744000" cy="0"/>
            </a:xfrm>
            <a:prstGeom prst="line">
              <a:avLst/>
            </a:prstGeom>
            <a:ln w="12600">
              <a:solidFill>
                <a:srgbClr val="006684"/>
              </a:solidFill>
              <a:miter/>
            </a:ln>
          </p:spPr>
          <p:style>
            <a:lnRef idx="0">
              <a:srgbClr val="FFFFFF"/>
            </a:lnRef>
            <a:fillRef idx="0">
              <a:srgbClr val="FFFFFF"/>
            </a:fillRef>
            <a:effectRef idx="0">
              <a:srgbClr val="FFFFFF"/>
            </a:effectRef>
            <a:fontRef idx="minor"/>
          </p:style>
          <p:txBody>
            <a:bodyPr lIns="90000" tIns="-46800" rIns="90000" bIns="-46800" anchor="t">
              <a:noAutofit/>
            </a:bodyPr>
            <a:p>
              <a:endParaRPr lang="en-US" sz="2300" b="0" strike="noStrike" spc="-1">
                <a:solidFill>
                  <a:srgbClr val="000000"/>
                </a:solidFill>
                <a:latin typeface="Arial" panose="020B0604020202020204"/>
              </a:endParaRPr>
            </a:p>
          </p:txBody>
        </p:sp>
      </p:grpSp>
      <p:grpSp>
        <p:nvGrpSpPr>
          <p:cNvPr id="92" name="Group 107"/>
          <p:cNvGrpSpPr/>
          <p:nvPr/>
        </p:nvGrpSpPr>
        <p:grpSpPr>
          <a:xfrm>
            <a:off x="28918080" y="14250000"/>
            <a:ext cx="12885480" cy="1099800"/>
            <a:chOff x="28918080" y="14250000"/>
            <a:chExt cx="12885480" cy="1099800"/>
          </a:xfrm>
        </p:grpSpPr>
        <p:sp>
          <p:nvSpPr>
            <p:cNvPr id="93" name="Rectangle 249"/>
            <p:cNvSpPr/>
            <p:nvPr/>
          </p:nvSpPr>
          <p:spPr>
            <a:xfrm>
              <a:off x="28918080" y="14250000"/>
              <a:ext cx="12885480" cy="109980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6600" b="1" strike="noStrike" spc="-1">
                  <a:solidFill>
                    <a:srgbClr val="006684"/>
                  </a:solidFill>
                  <a:latin typeface="Arial" panose="020B0604020202020204"/>
                  <a:ea typeface="Arial" panose="020B0604020202020204"/>
                </a:rPr>
                <a:t>Mitigation</a:t>
              </a:r>
              <a:endParaRPr lang="en-US" sz="6600" b="0" strike="noStrike" spc="-1">
                <a:solidFill>
                  <a:srgbClr val="000000"/>
                </a:solidFill>
                <a:latin typeface="Arial" panose="020B0604020202020204"/>
              </a:endParaRPr>
            </a:p>
          </p:txBody>
        </p:sp>
        <p:sp>
          <p:nvSpPr>
            <p:cNvPr id="94" name="Straight Connector 6"/>
            <p:cNvSpPr/>
            <p:nvPr/>
          </p:nvSpPr>
          <p:spPr>
            <a:xfrm>
              <a:off x="29042640" y="14376360"/>
              <a:ext cx="12744000" cy="0"/>
            </a:xfrm>
            <a:prstGeom prst="line">
              <a:avLst/>
            </a:prstGeom>
            <a:ln w="12600">
              <a:solidFill>
                <a:srgbClr val="006684"/>
              </a:solidFill>
              <a:miter/>
            </a:ln>
          </p:spPr>
          <p:style>
            <a:lnRef idx="0">
              <a:srgbClr val="FFFFFF"/>
            </a:lnRef>
            <a:fillRef idx="0">
              <a:srgbClr val="FFFFFF"/>
            </a:fillRef>
            <a:effectRef idx="0">
              <a:srgbClr val="FFFFFF"/>
            </a:effectRef>
            <a:fontRef idx="minor"/>
          </p:style>
          <p:txBody>
            <a:bodyPr lIns="90000" tIns="-46800" rIns="90000" bIns="-46800" anchor="t">
              <a:noAutofit/>
            </a:bodyPr>
            <a:p>
              <a:endParaRPr lang="en-US" sz="2300" b="0" strike="noStrike" spc="-1">
                <a:solidFill>
                  <a:srgbClr val="000000"/>
                </a:solidFill>
                <a:latin typeface="Arial" panose="020B0604020202020204"/>
              </a:endParaRPr>
            </a:p>
          </p:txBody>
        </p:sp>
      </p:grpSp>
      <p:sp>
        <p:nvSpPr>
          <p:cNvPr id="36" name="Rectangle 24"/>
          <p:cNvSpPr/>
          <p:nvPr/>
        </p:nvSpPr>
        <p:spPr>
          <a:xfrm>
            <a:off x="14998680" y="6154560"/>
            <a:ext cx="12936600" cy="72864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5000"/>
              </a:lnSpc>
            </a:pPr>
            <a:r>
              <a:rPr lang="en-GB" sz="3600" b="0" strike="noStrike" spc="-1">
                <a:solidFill>
                  <a:srgbClr val="000000"/>
                </a:solidFill>
                <a:latin typeface="Arial" panose="020B0604020202020204"/>
                <a:ea typeface="Arial" panose="020B0604020202020204"/>
              </a:rPr>
              <a:t>Computer vision offers significant benefits to society. In healthcare, deep learning models can classify skin cancer with accuracy comparable to dermatologists, supporting earlier diagnosis (Esteva et al., 2017). It also improves safety and accessibility through driver-assistance systems and apps that describe surroundings to visually impaired users (Manduchi and Coughlan, 2012). These benefits suggest that, when used responsibly, the technology can help save lives.</a:t>
            </a:r>
            <a:endParaRPr lang="en-GB" sz="3600" b="0" strike="noStrike" spc="-1">
              <a:solidFill>
                <a:srgbClr val="000000"/>
              </a:solidFill>
              <a:latin typeface="Arial" panose="020B0604020202020204"/>
            </a:endParaRPr>
          </a:p>
          <a:p>
            <a:pPr>
              <a:lnSpc>
                <a:spcPts val="5000"/>
              </a:lnSpc>
              <a:spcBef>
                <a:spcPts val="1800"/>
              </a:spcBef>
            </a:pPr>
            <a:r>
              <a:rPr lang="en-GB" sz="3600" b="0" strike="noStrike" spc="-1">
                <a:solidFill>
                  <a:srgbClr val="000000"/>
                </a:solidFill>
                <a:latin typeface="Arial" panose="020B0604020202020204"/>
                <a:ea typeface="Arial" panose="020B0604020202020204"/>
              </a:rPr>
              <a:t>However, it also raises serious ethical concerns. Commercial facial analysis systems misclassified the gender of darker-skinned women up to 34.7% of the time, compared with 0.8% for lighter-skinned men (Buolamwini and Gebru, 2018). If similar errors occur in policing, innocent people could be wrongly suspected. Privacy is another risk: unlike a password, a face cannot be changed, yet it can be tracked without consent. Socially, constant monitoring risks normalising surveillance and weakening personal autonomy (Zuboff, 2019).</a:t>
            </a:r>
            <a:endParaRPr lang="en-GB" sz="3600" b="0" strike="noStrike" spc="-1">
              <a:solidFill>
                <a:srgbClr val="000000"/>
              </a:solidFill>
              <a:latin typeface="Arial" panose="020B0604020202020204"/>
            </a:endParaRPr>
          </a:p>
          <a:p>
            <a:pPr>
              <a:lnSpc>
                <a:spcPts val="5000"/>
              </a:lnSpc>
              <a:spcBef>
                <a:spcPts val="1800"/>
              </a:spcBef>
            </a:pPr>
            <a:r>
              <a:rPr lang="en-GB" sz="3600" b="0" strike="noStrike" spc="-1">
                <a:solidFill>
                  <a:srgbClr val="000000"/>
                </a:solidFill>
                <a:latin typeface="Arial" panose="020B0604020202020204"/>
                <a:ea typeface="Arial" panose="020B0604020202020204"/>
              </a:rPr>
              <a:t>Legally, the GDPR classifies biometric data used for identification as "special category" data requiring stronger protection (European Union, 2016). The EU AI Act goes further, largely prohibiting real-time facial recognition in public spaces for law enforcement (European Union, 2024). As both laws apply in Ireland, this suggests regulation is beginning to catch up with the technology.</a:t>
            </a:r>
            <a:endParaRPr lang="en-GB" sz="3600" b="0" strike="noStrike" spc="-1">
              <a:solidFill>
                <a:srgbClr val="000000"/>
              </a:solidFill>
              <a:latin typeface="Arial" panose="020B0604020202020204"/>
            </a:endParaRPr>
          </a:p>
        </p:txBody>
      </p:sp>
      <p:sp>
        <p:nvSpPr>
          <p:cNvPr id="37" name="Rectangle 6"/>
          <p:cNvSpPr/>
          <p:nvPr/>
        </p:nvSpPr>
        <p:spPr>
          <a:xfrm>
            <a:off x="0" y="-58680"/>
            <a:ext cx="42808680" cy="3211560"/>
          </a:xfrm>
          <a:prstGeom prst="rect">
            <a:avLst/>
          </a:prstGeom>
          <a:solidFill>
            <a:srgbClr val="006684"/>
          </a:solidFill>
          <a:ln w="0">
            <a:noFill/>
          </a:ln>
        </p:spPr>
        <p:style>
          <a:lnRef idx="0">
            <a:srgbClr val="FFFFFF"/>
          </a:lnRef>
          <a:fillRef idx="0">
            <a:srgbClr val="FFFFFF"/>
          </a:fillRef>
          <a:effectRef idx="0">
            <a:srgbClr val="FFFFFF"/>
          </a:effectRef>
          <a:fontRef idx="minor"/>
        </p:style>
        <p:txBody>
          <a:bodyPr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38" name="TextBox 26"/>
          <p:cNvSpPr/>
          <p:nvPr/>
        </p:nvSpPr>
        <p:spPr>
          <a:xfrm>
            <a:off x="955800" y="150840"/>
            <a:ext cx="31795920" cy="202428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76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6600" b="1" strike="noStrike" spc="-1">
                <a:solidFill>
                  <a:srgbClr val="FFFFFF"/>
                </a:solidFill>
                <a:latin typeface="Arial" panose="020B0604020202020204"/>
                <a:ea typeface="Arial" panose="020B0604020202020204"/>
              </a:rPr>
              <a:t>Computer Vision: Ethical, Legal and Social Impacts</a:t>
            </a:r>
            <a:endParaRPr lang="en-US" sz="6600" b="0" strike="noStrike" spc="-1">
              <a:solidFill>
                <a:srgbClr val="000000"/>
              </a:solidFill>
              <a:latin typeface="Arial" panose="020B0604020202020204"/>
            </a:endParaRPr>
          </a:p>
        </p:txBody>
      </p:sp>
      <p:sp>
        <p:nvSpPr>
          <p:cNvPr id="39" name="Rectangle 6"/>
          <p:cNvSpPr/>
          <p:nvPr/>
        </p:nvSpPr>
        <p:spPr>
          <a:xfrm>
            <a:off x="992160" y="1250000"/>
            <a:ext cx="35269560" cy="964565"/>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34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strike="noStrike" spc="-1">
                <a:solidFill>
                  <a:srgbClr val="FFFFFF"/>
                </a:solidFill>
                <a:latin typeface="Arial" panose="020B0604020202020204"/>
                <a:ea typeface="Arial" panose="020B0604020202020204"/>
              </a:rPr>
              <a:t>Muhammad Asharib</a:t>
            </a:r>
            <a:endParaRPr lang="en-GB" sz="4000" b="1" strike="noStrike" spc="-1">
              <a:solidFill>
                <a:srgbClr val="FFFFFF"/>
              </a:solidFill>
              <a:latin typeface="Arial" panose="020B0604020202020204"/>
              <a:ea typeface="Arial" panose="020B0604020202020204"/>
            </a:endParaRPr>
          </a:p>
          <a:p>
            <a:pPr>
              <a:lnSpc>
                <a:spcPts val="34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4000" b="0" strike="noStrike" spc="-1">
                <a:solidFill>
                  <a:schemeClr val="bg1"/>
                </a:solidFill>
                <a:latin typeface="Arial" panose="020B0604020202020204"/>
              </a:rPr>
              <a:t>2023478</a:t>
            </a:r>
            <a:endParaRPr lang="en-GB" altLang="en-US" sz="4000" b="0" strike="noStrike" spc="-1">
              <a:solidFill>
                <a:schemeClr val="bg1"/>
              </a:solidFill>
              <a:latin typeface="Arial" panose="020B0604020202020204"/>
            </a:endParaRPr>
          </a:p>
        </p:txBody>
      </p:sp>
      <p:sp>
        <p:nvSpPr>
          <p:cNvPr id="40" name="Rectangle 20"/>
          <p:cNvSpPr/>
          <p:nvPr/>
        </p:nvSpPr>
        <p:spPr>
          <a:xfrm>
            <a:off x="974880" y="3211560"/>
            <a:ext cx="20000000" cy="52560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34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0" strike="noStrike" spc="-1">
                <a:solidFill>
                  <a:srgbClr val="000000"/>
                </a:solidFill>
                <a:latin typeface="Arial" panose="020B0604020202020204"/>
                <a:ea typeface="Arial" panose="020B0604020202020204"/>
              </a:rPr>
              <a:t>BSc (Hons) in Computing in IT, CCT College Dublin</a:t>
            </a:r>
            <a:endParaRPr lang="en-US" sz="2400" b="0" strike="noStrike" spc="-1">
              <a:solidFill>
                <a:srgbClr val="000000"/>
              </a:solidFill>
              <a:latin typeface="Arial" panose="020B0604020202020204"/>
            </a:endParaRPr>
          </a:p>
        </p:txBody>
      </p:sp>
      <p:pic>
        <p:nvPicPr>
          <p:cNvPr id="41" name="Picture 3" descr="A blue and black text&#10;&#10;Description automatically generated"/>
          <p:cNvPicPr/>
          <p:nvPr/>
        </p:nvPicPr>
        <p:blipFill>
          <a:blip r:embed="rId1"/>
          <a:stretch>
            <a:fillRect/>
          </a:stretch>
        </p:blipFill>
        <p:spPr>
          <a:xfrm>
            <a:off x="34945560" y="625320"/>
            <a:ext cx="6784920" cy="1789200"/>
          </a:xfrm>
          <a:prstGeom prst="rect">
            <a:avLst/>
          </a:prstGeom>
          <a:ln w="0">
            <a:noFill/>
          </a:ln>
        </p:spPr>
      </p:pic>
      <p:pic>
        <p:nvPicPr>
          <p:cNvPr id="96" name="Picture 95" descr="fig2.png"/>
          <p:cNvPicPr>
            <a:picLocks noChangeAspect="1"/>
          </p:cNvPicPr>
          <p:nvPr/>
        </p:nvPicPr>
        <p:blipFill>
          <a:blip r:embed="rId2"/>
          <a:stretch>
            <a:fillRect/>
          </a:stretch>
        </p:blipFill>
        <p:spPr>
          <a:xfrm>
            <a:off x="15098760" y="24000000"/>
            <a:ext cx="12660120" cy="4000000"/>
          </a:xfrm>
          <a:prstGeom prst="rect">
            <a:avLst/>
          </a:prstGeom>
        </p:spPr>
      </p:pic>
      <p:sp>
        <p:nvSpPr>
          <p:cNvPr id="26" name="Rectangle 8"/>
          <p:cNvSpPr/>
          <p:nvPr/>
        </p:nvSpPr>
        <p:spPr>
          <a:xfrm>
            <a:off x="15098760" y="24000000"/>
            <a:ext cx="12660120" cy="4000000"/>
          </a:xfrm>
          <a:prstGeom prst="rect">
            <a:avLst/>
          </a:prstGeom>
          <a:noFill/>
          <a:ln w="12600" cap="sq">
            <a:solidFill>
              <a:srgbClr val="006684"/>
            </a:solidFill>
            <a:round/>
          </a:ln>
        </p:spPr>
        <p:style>
          <a:lnRef idx="0">
            <a:srgbClr val="FFFFFF"/>
          </a:lnRef>
          <a:fillRef idx="0">
            <a:srgbClr val="FFFFFF"/>
          </a:fillRef>
          <a:effectRef idx="0">
            <a:srgbClr val="FFFFFF"/>
          </a:effectRef>
          <a:fontRef idx="minor"/>
        </p:style>
        <p:txBody>
          <a:bodyPr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300" b="0" strike="noStrike" spc="-1">
              <a:solidFill>
                <a:srgbClr val="000000"/>
              </a:solidFill>
              <a:latin typeface="Arial" panose="020B0604020202020204"/>
            </a:endParaRPr>
          </a:p>
        </p:txBody>
      </p:sp>
      <p:sp>
        <p:nvSpPr>
          <p:cNvPr id="97" name="Fig1 box 1"/>
          <p:cNvSpPr/>
          <p:nvPr/>
        </p:nvSpPr>
        <p:spPr>
          <a:xfrm>
            <a:off x="95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wrap="square" lIns="90000" rIns="90000" bIns="200000" rtlCol="0" anchor="b"/>
          <a:lstStyle/>
          <a:p>
            <a:pPr algn="ctr"/>
            <a:r>
              <a:rPr sz="3600" b="1">
                <a:solidFill>
                  <a:srgbClr val="FFFFFF"/>
                </a:solidFill>
                <a:latin typeface="Arial" panose="020B0604020202020204"/>
              </a:rPr>
              <a:t>Camera</a:t>
            </a:r>
            <a:endParaRPr sz="3600" b="1">
              <a:solidFill>
                <a:srgbClr val="FFFFFF"/>
              </a:solidFill>
              <a:latin typeface="Arial" panose="020B0604020202020204"/>
            </a:endParaRPr>
          </a:p>
          <a:p>
            <a:pPr algn="ctr">
              <a:spcBef>
                <a:spcPts val="600"/>
              </a:spcBef>
            </a:pPr>
            <a:r>
              <a:rPr sz="2400">
                <a:solidFill>
                  <a:srgbClr val="DDEEF3"/>
                </a:solidFill>
                <a:latin typeface="Arial" panose="020B0604020202020204"/>
              </a:rPr>
              <a:t>captures the image</a:t>
            </a:r>
            <a:endParaRPr sz="2400">
              <a:solidFill>
                <a:srgbClr val="DDEEF3"/>
              </a:solidFill>
              <a:latin typeface="Arial" panose="020B0604020202020204"/>
            </a:endParaRPr>
          </a:p>
        </p:txBody>
      </p:sp>
      <p:pic>
        <p:nvPicPr>
          <p:cNvPr id="98" name="Fig1 icon 1" descr="camera.png"/>
          <p:cNvPicPr>
            <a:picLocks noChangeAspect="1"/>
          </p:cNvPicPr>
          <p:nvPr/>
        </p:nvPicPr>
        <p:blipFill>
          <a:blip r:embed="rId3"/>
          <a:stretch>
            <a:fillRect/>
          </a:stretch>
        </p:blipFill>
        <p:spPr>
          <a:xfrm>
            <a:off x="1617560" y="22230000"/>
            <a:ext cx="1150000" cy="1150000"/>
          </a:xfrm>
          <a:prstGeom prst="rect">
            <a:avLst/>
          </a:prstGeom>
        </p:spPr>
      </p:pic>
      <p:sp>
        <p:nvSpPr>
          <p:cNvPr id="99" name="Fig1 arrow 1"/>
          <p:cNvSpPr/>
          <p:nvPr/>
        </p:nvSpPr>
        <p:spPr>
          <a:xfrm>
            <a:off x="361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ig1 box 2"/>
          <p:cNvSpPr/>
          <p:nvPr/>
        </p:nvSpPr>
        <p:spPr>
          <a:xfrm>
            <a:off x="441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wrap="square" lIns="90000" rIns="90000" bIns="200000" rtlCol="0" anchor="b"/>
          <a:lstStyle/>
          <a:p>
            <a:pPr algn="ctr"/>
            <a:r>
              <a:rPr sz="3600" b="1">
                <a:solidFill>
                  <a:srgbClr val="FFFFFF"/>
                </a:solidFill>
                <a:latin typeface="Arial" panose="020B0604020202020204"/>
              </a:rPr>
              <a:t>Pixels</a:t>
            </a:r>
            <a:endParaRPr sz="3600" b="1">
              <a:solidFill>
                <a:srgbClr val="FFFFFF"/>
              </a:solidFill>
              <a:latin typeface="Arial" panose="020B0604020202020204"/>
            </a:endParaRPr>
          </a:p>
          <a:p>
            <a:pPr algn="ctr">
              <a:spcBef>
                <a:spcPts val="600"/>
              </a:spcBef>
            </a:pPr>
            <a:r>
              <a:rPr sz="2400">
                <a:solidFill>
                  <a:srgbClr val="DDEEF3"/>
                </a:solidFill>
                <a:latin typeface="Arial" panose="020B0604020202020204"/>
              </a:rPr>
              <a:t>image as numbers</a:t>
            </a:r>
            <a:endParaRPr sz="2400">
              <a:solidFill>
                <a:srgbClr val="DDEEF3"/>
              </a:solidFill>
              <a:latin typeface="Arial" panose="020B0604020202020204"/>
            </a:endParaRPr>
          </a:p>
        </p:txBody>
      </p:sp>
      <p:pic>
        <p:nvPicPr>
          <p:cNvPr id="101" name="Fig1 icon 2" descr="pixels.png"/>
          <p:cNvPicPr>
            <a:picLocks noChangeAspect="1"/>
          </p:cNvPicPr>
          <p:nvPr/>
        </p:nvPicPr>
        <p:blipFill>
          <a:blip r:embed="rId4"/>
          <a:stretch>
            <a:fillRect/>
          </a:stretch>
        </p:blipFill>
        <p:spPr>
          <a:xfrm>
            <a:off x="5077560" y="22230000"/>
            <a:ext cx="1150000" cy="1150000"/>
          </a:xfrm>
          <a:prstGeom prst="rect">
            <a:avLst/>
          </a:prstGeom>
        </p:spPr>
      </p:pic>
      <p:sp>
        <p:nvSpPr>
          <p:cNvPr id="102" name="Fig1 arrow 2"/>
          <p:cNvSpPr/>
          <p:nvPr/>
        </p:nvSpPr>
        <p:spPr>
          <a:xfrm>
            <a:off x="707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ig1 box 3"/>
          <p:cNvSpPr/>
          <p:nvPr/>
        </p:nvSpPr>
        <p:spPr>
          <a:xfrm>
            <a:off x="787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wrap="square" lIns="90000" rIns="90000" bIns="200000" rtlCol="0" anchor="b"/>
          <a:lstStyle/>
          <a:p>
            <a:pPr algn="ctr"/>
            <a:r>
              <a:rPr sz="3600" b="1">
                <a:solidFill>
                  <a:srgbClr val="FFFFFF"/>
                </a:solidFill>
                <a:latin typeface="Arial" panose="020B0604020202020204"/>
              </a:rPr>
              <a:t>CNN</a:t>
            </a:r>
            <a:endParaRPr sz="3600" b="1">
              <a:solidFill>
                <a:srgbClr val="FFFFFF"/>
              </a:solidFill>
              <a:latin typeface="Arial" panose="020B0604020202020204"/>
            </a:endParaRPr>
          </a:p>
          <a:p>
            <a:pPr algn="ctr">
              <a:spcBef>
                <a:spcPts val="600"/>
              </a:spcBef>
            </a:pPr>
            <a:r>
              <a:rPr sz="2400">
                <a:solidFill>
                  <a:srgbClr val="DDEEF3"/>
                </a:solidFill>
                <a:latin typeface="Arial" panose="020B0604020202020204"/>
              </a:rPr>
              <a:t>AI model finds patterns</a:t>
            </a:r>
            <a:endParaRPr sz="2400">
              <a:solidFill>
                <a:srgbClr val="DDEEF3"/>
              </a:solidFill>
              <a:latin typeface="Arial" panose="020B0604020202020204"/>
            </a:endParaRPr>
          </a:p>
        </p:txBody>
      </p:sp>
      <p:pic>
        <p:nvPicPr>
          <p:cNvPr id="104" name="Fig1 icon 3" descr="cnn.png"/>
          <p:cNvPicPr>
            <a:picLocks noChangeAspect="1"/>
          </p:cNvPicPr>
          <p:nvPr/>
        </p:nvPicPr>
        <p:blipFill>
          <a:blip r:embed="rId5"/>
          <a:stretch>
            <a:fillRect/>
          </a:stretch>
        </p:blipFill>
        <p:spPr>
          <a:xfrm>
            <a:off x="8537560" y="22230000"/>
            <a:ext cx="1150000" cy="1150000"/>
          </a:xfrm>
          <a:prstGeom prst="rect">
            <a:avLst/>
          </a:prstGeom>
        </p:spPr>
      </p:pic>
      <p:sp>
        <p:nvSpPr>
          <p:cNvPr id="105" name="Fig1 arrow 3"/>
          <p:cNvSpPr/>
          <p:nvPr/>
        </p:nvSpPr>
        <p:spPr>
          <a:xfrm>
            <a:off x="1053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ig1 box 4"/>
          <p:cNvSpPr/>
          <p:nvPr/>
        </p:nvSpPr>
        <p:spPr>
          <a:xfrm>
            <a:off x="1133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wrap="square" lIns="90000" rIns="90000" bIns="200000" rtlCol="0" anchor="b"/>
          <a:lstStyle/>
          <a:p>
            <a:pPr algn="ctr"/>
            <a:r>
              <a:rPr sz="3600" b="1">
                <a:solidFill>
                  <a:srgbClr val="FFFFFF"/>
                </a:solidFill>
                <a:latin typeface="Arial" panose="020B0604020202020204"/>
              </a:rPr>
              <a:t>Result</a:t>
            </a:r>
            <a:endParaRPr sz="3600" b="1">
              <a:solidFill>
                <a:srgbClr val="FFFFFF"/>
              </a:solidFill>
              <a:latin typeface="Arial" panose="020B0604020202020204"/>
            </a:endParaRPr>
          </a:p>
          <a:p>
            <a:pPr algn="ctr">
              <a:spcBef>
                <a:spcPts val="600"/>
              </a:spcBef>
            </a:pPr>
            <a:r>
              <a:rPr sz="2400">
                <a:solidFill>
                  <a:srgbClr val="DDEEF3"/>
                </a:solidFill>
                <a:latin typeface="Arial" panose="020B0604020202020204"/>
              </a:rPr>
              <a:t>e.g. face recognised</a:t>
            </a:r>
            <a:endParaRPr sz="2400">
              <a:solidFill>
                <a:srgbClr val="DDEEF3"/>
              </a:solidFill>
              <a:latin typeface="Arial" panose="020B0604020202020204"/>
            </a:endParaRPr>
          </a:p>
        </p:txBody>
      </p:sp>
      <p:pic>
        <p:nvPicPr>
          <p:cNvPr id="107" name="Fig1 icon 4" descr="result.png"/>
          <p:cNvPicPr>
            <a:picLocks noChangeAspect="1"/>
          </p:cNvPicPr>
          <p:nvPr/>
        </p:nvPicPr>
        <p:blipFill>
          <a:blip r:embed="rId6"/>
          <a:stretch>
            <a:fillRect/>
          </a:stretch>
        </p:blipFill>
        <p:spPr>
          <a:xfrm>
            <a:off x="11997560" y="22230000"/>
            <a:ext cx="1150000" cy="1150000"/>
          </a:xfrm>
          <a:prstGeom prst="rect">
            <a:avLst/>
          </a:prstGeom>
        </p:spPr>
      </p:pic>
      <p:sp>
        <p:nvSpPr>
          <p:cNvPr id="108" name="Rectangle 20"/>
          <p:cNvSpPr/>
          <p:nvPr/>
        </p:nvSpPr>
        <p:spPr>
          <a:xfrm>
            <a:off x="952560" y="25950000"/>
            <a:ext cx="12787200" cy="52560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p>
            <a:pPr>
              <a:lnSpc>
                <a:spcPts val="34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strike="noStrike" spc="-1">
                <a:solidFill>
                  <a:srgbClr val="000000"/>
                </a:solidFill>
                <a:latin typeface="Arial" panose="020B0604020202020204"/>
                <a:ea typeface="Arial" panose="020B0604020202020204"/>
              </a:rPr>
              <a:t>Fig. 1</a:t>
            </a:r>
            <a:r>
              <a:rPr lang="en-GB" sz="2400" b="0" strike="noStrike" spc="-1">
                <a:solidFill>
                  <a:srgbClr val="000000"/>
                </a:solidFill>
                <a:latin typeface="Arial" panose="020B0604020202020204"/>
                <a:ea typeface="Arial" panose="020B0604020202020204"/>
              </a:rPr>
              <a:t> How computer vision works (own diagram)</a:t>
            </a:r>
            <a:endParaRPr lang="en-US" sz="24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6067</Words>
  <Application>WPS Presentation</Application>
  <PresentationFormat/>
  <Paragraphs>66</Paragraphs>
  <Slides>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SimSun</vt:lpstr>
      <vt:lpstr>Wingdings</vt:lpstr>
      <vt:lpstr>Times New Roman</vt:lpstr>
      <vt:lpstr>Arial</vt:lpstr>
      <vt:lpstr>Calibri</vt:lpstr>
      <vt:lpstr>Microsoft YaHei</vt:lpstr>
      <vt:lpstr>Arial Unicode MS</vt:lpstr>
      <vt:lpstr>DejaVu Sans</vt:lpstr>
      <vt:lpstr>Calibri</vt:lpstr>
      <vt:lpstr>Office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User</cp:lastModifiedBy>
  <cp:revision>1</cp:revision>
  <dcterms:created xsi:type="dcterms:W3CDTF">2026-10-29T17:18:40Z</dcterms:created>
  <dcterms:modified xsi:type="dcterms:W3CDTF">2026-10-29T17:18:40Z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5B3044FFBE524708BF29A30590FCB2EC_12</vt:lpwstr>
  </property>
  <property fmtid="{D5CDD505-2E9C-101B-9397-08002B2CF9AE}" pid="3" name="KSOProductBuildVer">
    <vt:lpwstr>2057-12.2.0.23206</vt:lpwstr>
  </property>
</Properties>
</file>