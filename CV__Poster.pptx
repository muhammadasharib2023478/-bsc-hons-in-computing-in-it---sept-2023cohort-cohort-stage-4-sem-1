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</p:sldIdLst>
  <p:sldSz cx="42806620" cy="30279975"/>
  <p:notesSz cx="6767195" cy="990727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5" d="100"/>
          <a:sy n="15" d="100"/>
        </p:scale>
        <p:origin x="1212" y="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6768000" cy="99072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lIns="90000" tIns="45000" rIns="90000" bIns="45000" anchor="ctr" anchorCtr="1">
            <a:noAutofit/>
          </a:bodyPr>
          <a:lstStyle/>
          <a:p>
            <a:endParaRPr lang="en-US" sz="23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6" name="PlaceHolder 1"/>
          <p:cNvSpPr>
            <a:spLocks noGrp="1"/>
          </p:cNvSpPr>
          <p:nvPr>
            <p:ph type="hdr"/>
          </p:nvPr>
        </p:nvSpPr>
        <p:spPr>
          <a:xfrm>
            <a:off x="-360" y="0"/>
            <a:ext cx="2933640" cy="49536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t">
            <a:noAutofit/>
          </a:bodyPr>
          <a:lstStyle/>
          <a:p>
            <a:pPr indent="0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3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dt" idx="4"/>
          </p:nvPr>
        </p:nvSpPr>
        <p:spPr>
          <a:xfrm>
            <a:off x="3833640" y="0"/>
            <a:ext cx="2934000" cy="49536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t">
            <a:noAutofit/>
          </a:bodyPr>
          <a:lstStyle>
            <a:lvl1pPr indent="0" algn="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200" b="0" strike="noStrike" spc="-1">
                <a:solidFill>
                  <a:srgbClr val="000000"/>
                </a:solidFill>
                <a:latin typeface="Arial" panose="020B0604020202020204"/>
              </a:defRPr>
            </a:lvl1pPr>
          </a:lstStyle>
          <a:p>
            <a:pPr indent="0" algn="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strike="noStrike" spc="-1">
                <a:solidFill>
                  <a:srgbClr val="000000"/>
                </a:solidFill>
                <a:latin typeface="Arial" panose="020B0604020202020204"/>
              </a:rPr>
              <a:t>&lt;date/time&gt;</a:t>
            </a:r>
            <a:endParaRPr lang="en-US" sz="12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8" name="PlaceHolder 3"/>
          <p:cNvSpPr>
            <a:spLocks noGrp="1" noRot="1" noChangeAspect="1"/>
          </p:cNvSpPr>
          <p:nvPr>
            <p:ph type="sldImg"/>
          </p:nvPr>
        </p:nvSpPr>
        <p:spPr>
          <a:xfrm>
            <a:off x="758520" y="742680"/>
            <a:ext cx="5251320" cy="3714840"/>
          </a:xfrm>
          <a:prstGeom prst="rect">
            <a:avLst/>
          </a:prstGeom>
          <a:noFill/>
          <a:ln w="12600">
            <a:solidFill>
              <a:srgbClr val="000000"/>
            </a:solidFill>
            <a:miter/>
          </a:ln>
        </p:spPr>
        <p:txBody>
          <a:bodyPr lIns="90000" tIns="46800" rIns="90000" bIns="46800" anchor="ctr">
            <a:noAutofit/>
          </a:bodyPr>
          <a:lstStyle/>
          <a:p>
            <a:pPr indent="0" algn="ctr">
              <a:buNone/>
              <a:tabLst>
                <a:tab pos="0" algn="l"/>
                <a:tab pos="4490720" algn="l"/>
                <a:tab pos="8981440" algn="l"/>
              </a:tabLst>
            </a:pPr>
            <a:r>
              <a:rPr lang="en-US" sz="21600" b="0" strike="noStrike" spc="-1">
                <a:solidFill>
                  <a:srgbClr val="000000"/>
                </a:solidFill>
                <a:latin typeface="Times New Roman" panose="02020603050405020304"/>
              </a:rPr>
              <a:t>Click to move the slide</a:t>
            </a:r>
            <a:endParaRPr lang="en-US" sz="216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body"/>
          </p:nvPr>
        </p:nvSpPr>
        <p:spPr>
          <a:xfrm>
            <a:off x="676440" y="4704840"/>
            <a:ext cx="5416560" cy="445788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t">
            <a:noAutofit/>
          </a:bodyPr>
          <a:lstStyle/>
          <a:p>
            <a:pPr indent="0">
              <a:spcBef>
                <a:spcPts val="450"/>
              </a:spcBef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200" b="0" strike="noStrike" spc="-1">
                <a:solidFill>
                  <a:srgbClr val="000000"/>
                </a:solidFill>
                <a:latin typeface="Calibri" panose="020F0502020204030204"/>
              </a:rPr>
              <a:t>Click to edit the notes format</a:t>
            </a:r>
            <a:endParaRPr lang="en-US" sz="1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ftr" idx="5"/>
          </p:nvPr>
        </p:nvSpPr>
        <p:spPr>
          <a:xfrm>
            <a:off x="-360" y="9408960"/>
            <a:ext cx="2933640" cy="49536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b">
            <a:noAutofit/>
          </a:bodyPr>
          <a:lstStyle/>
          <a:p>
            <a:pPr indent="0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3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1" name="PlaceHolder 6"/>
          <p:cNvSpPr>
            <a:spLocks noGrp="1"/>
          </p:cNvSpPr>
          <p:nvPr>
            <p:ph type="sldNum" idx="6"/>
          </p:nvPr>
        </p:nvSpPr>
        <p:spPr>
          <a:xfrm>
            <a:off x="3833640" y="9408960"/>
            <a:ext cx="2934000" cy="49536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b">
            <a:noAutofit/>
          </a:bodyPr>
          <a:lstStyle>
            <a:lvl1pPr indent="0" algn="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200" b="0" strike="noStrike" spc="-1">
                <a:solidFill>
                  <a:srgbClr val="000000"/>
                </a:solidFill>
                <a:latin typeface="Arial" panose="020B0604020202020204"/>
              </a:defRPr>
            </a:lvl1pPr>
          </a:lstStyle>
          <a:p>
            <a:pPr indent="0" algn="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753BEFC5-4218-4112-A2AA-8E9CAB37C2B2}" type="slidenum">
              <a:rPr lang="en-US" sz="1200" b="0" strike="noStrike" spc="-1">
                <a:solidFill>
                  <a:srgbClr val="000000"/>
                </a:solidFill>
                <a:latin typeface="Arial" panose="020B0604020202020204"/>
              </a:rPr>
            </a:fld>
            <a:endParaRPr lang="en-US" sz="12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758825" y="742950"/>
            <a:ext cx="5251450" cy="3714750"/>
          </a:xfrm>
          <a:prstGeom prst="rect">
            <a:avLst/>
          </a:prstGeom>
          <a:ln w="0">
            <a:noFill/>
          </a:ln>
        </p:spPr>
      </p:sp>
      <p:sp>
        <p:nvSpPr>
          <p:cNvPr id="43" name="PlaceHolder 2"/>
          <p:cNvSpPr>
            <a:spLocks noGrp="1"/>
          </p:cNvSpPr>
          <p:nvPr>
            <p:ph type="body"/>
          </p:nvPr>
        </p:nvSpPr>
        <p:spPr>
          <a:xfrm>
            <a:off x="676440" y="4704840"/>
            <a:ext cx="5416560" cy="445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spcBef>
                <a:spcPts val="450"/>
              </a:spcBef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sz="1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44" name="Slide Number Placeholder 3"/>
          <p:cNvSpPr/>
          <p:nvPr/>
        </p:nvSpPr>
        <p:spPr>
          <a:xfrm>
            <a:off x="3833640" y="9408960"/>
            <a:ext cx="2934000" cy="495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b">
            <a:noAutofit/>
          </a:bodyPr>
          <a:lstStyle/>
          <a:p>
            <a:pPr algn="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0F00F7DE-E8BF-4559-B736-F96F5746DFBF}" type="slidenum">
              <a:rPr lang="en-US" sz="1200" b="0" strike="noStrike" spc="-1">
                <a:solidFill>
                  <a:srgbClr val="000000"/>
                </a:solidFill>
                <a:latin typeface="Arial" panose="020B0604020202020204"/>
              </a:rPr>
            </a:fld>
            <a:endParaRPr lang="en-US" sz="12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47EA521D-9CB4-4F5A-A8FF-91A68931216D}" type="slidenum">
              <a:rPr/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3209760" y="2690280"/>
            <a:ext cx="36388800" cy="5046840"/>
          </a:xfrm>
          <a:prstGeom prst="rect">
            <a:avLst/>
          </a:prstGeom>
          <a:noFill/>
          <a:ln w="0">
            <a:noFill/>
          </a:ln>
        </p:spPr>
        <p:txBody>
          <a:bodyPr lIns="449280" tIns="224640" rIns="449280" bIns="224640" anchor="ctr">
            <a:noAutofit/>
          </a:bodyPr>
          <a:lstStyle/>
          <a:p>
            <a:pPr indent="0" algn="ctr">
              <a:buNone/>
              <a:tabLst>
                <a:tab pos="0" algn="l"/>
                <a:tab pos="4490720" algn="l"/>
                <a:tab pos="8981440" algn="l"/>
              </a:tabLst>
            </a:pPr>
            <a:r>
              <a:rPr lang="en-US" sz="21600" b="0" strike="noStrike" spc="-1">
                <a:solidFill>
                  <a:srgbClr val="000000"/>
                </a:solidFill>
                <a:latin typeface="Times New Roman" panose="02020603050405020304"/>
              </a:rPr>
              <a:t>Click to edit the title text format</a:t>
            </a:r>
            <a:endParaRPr lang="en-US" sz="216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body"/>
          </p:nvPr>
        </p:nvSpPr>
        <p:spPr>
          <a:xfrm>
            <a:off x="3209760" y="8746920"/>
            <a:ext cx="36388800" cy="18168840"/>
          </a:xfrm>
          <a:prstGeom prst="rect">
            <a:avLst/>
          </a:prstGeom>
          <a:noFill/>
          <a:ln w="0">
            <a:noFill/>
          </a:ln>
        </p:spPr>
        <p:txBody>
          <a:bodyPr lIns="449280" tIns="224640" rIns="449280" bIns="224640" anchor="t">
            <a:normAutofit fontScale="88968"/>
          </a:bodyPr>
          <a:lstStyle/>
          <a:p>
            <a:pPr marL="1682750" indent="-1682750">
              <a:spcBef>
                <a:spcPts val="3875"/>
              </a:spcBef>
              <a:buClr>
                <a:srgbClr val="000000"/>
              </a:buClr>
              <a:buFont typeface="Times New Roman" panose="02020603050405020304"/>
              <a:buChar char="•"/>
              <a:tabLst>
                <a:tab pos="4490720" algn="l"/>
                <a:tab pos="8981440" algn="l"/>
              </a:tabLst>
            </a:pPr>
            <a:r>
              <a:rPr lang="en-US" sz="15500" b="0" strike="noStrike" spc="-1">
                <a:solidFill>
                  <a:srgbClr val="000000"/>
                </a:solidFill>
                <a:latin typeface="Times New Roman" panose="02020603050405020304"/>
              </a:rPr>
              <a:t>Click to edit the outline text format</a:t>
            </a:r>
            <a:endParaRPr lang="en-US" sz="15500" b="0" strike="noStrike" spc="-1">
              <a:solidFill>
                <a:srgbClr val="000000"/>
              </a:solidFill>
              <a:latin typeface="Times New Roman" panose="02020603050405020304"/>
            </a:endParaRPr>
          </a:p>
          <a:p>
            <a:pPr marL="3649980" lvl="1" indent="-1400175">
              <a:spcBef>
                <a:spcPts val="3875"/>
              </a:spcBef>
              <a:buClr>
                <a:srgbClr val="000000"/>
              </a:buClr>
              <a:buFont typeface="Times New Roman" panose="02020603050405020304"/>
              <a:buChar char="–"/>
              <a:tabLst>
                <a:tab pos="4490720" algn="l"/>
                <a:tab pos="8981440" algn="l"/>
              </a:tabLst>
            </a:pPr>
            <a:r>
              <a:rPr lang="en-US" sz="15500" b="0" strike="noStrike" spc="-1">
                <a:solidFill>
                  <a:srgbClr val="000000"/>
                </a:solidFill>
                <a:latin typeface="Times New Roman" panose="02020603050405020304"/>
              </a:rPr>
              <a:t>Second Outline Level</a:t>
            </a:r>
            <a:endParaRPr lang="en-US" sz="15500" b="0" strike="noStrike" spc="-1">
              <a:solidFill>
                <a:srgbClr val="000000"/>
              </a:solidFill>
              <a:latin typeface="Times New Roman" panose="02020603050405020304"/>
            </a:endParaRPr>
          </a:p>
          <a:p>
            <a:pPr marL="5614670" lvl="2" indent="-1123950">
              <a:spcBef>
                <a:spcPts val="3875"/>
              </a:spcBef>
              <a:buClr>
                <a:srgbClr val="000000"/>
              </a:buClr>
              <a:buFont typeface="Times New Roman" panose="02020603050405020304"/>
              <a:buChar char="•"/>
              <a:tabLst>
                <a:tab pos="4490720" algn="l"/>
                <a:tab pos="8981440" algn="l"/>
              </a:tabLst>
            </a:pPr>
            <a:r>
              <a:rPr lang="en-US" sz="15500" b="0" strike="noStrike" spc="-1">
                <a:solidFill>
                  <a:srgbClr val="000000"/>
                </a:solidFill>
                <a:latin typeface="Times New Roman" panose="02020603050405020304"/>
              </a:rPr>
              <a:t>Third Outline Level</a:t>
            </a:r>
            <a:endParaRPr lang="en-US" sz="15500" b="0" strike="noStrike" spc="-1">
              <a:solidFill>
                <a:srgbClr val="000000"/>
              </a:solidFill>
              <a:latin typeface="Times New Roman" panose="02020603050405020304"/>
            </a:endParaRPr>
          </a:p>
          <a:p>
            <a:pPr marL="7864475" lvl="3" indent="-1125855">
              <a:spcBef>
                <a:spcPts val="3875"/>
              </a:spcBef>
              <a:buClr>
                <a:srgbClr val="000000"/>
              </a:buClr>
              <a:buFont typeface="Times New Roman" panose="02020603050405020304"/>
              <a:buChar char="–"/>
              <a:tabLst>
                <a:tab pos="4490720" algn="l"/>
                <a:tab pos="8981440" algn="l"/>
              </a:tabLst>
            </a:pPr>
            <a:r>
              <a:rPr lang="en-US" sz="15500" b="0" strike="noStrike" spc="-1">
                <a:solidFill>
                  <a:srgbClr val="000000"/>
                </a:solidFill>
                <a:latin typeface="Times New Roman" panose="02020603050405020304"/>
              </a:rPr>
              <a:t>Fourth Outline Level</a:t>
            </a:r>
            <a:endParaRPr lang="en-US" sz="15500" b="0" strike="noStrike" spc="-1">
              <a:solidFill>
                <a:srgbClr val="000000"/>
              </a:solidFill>
              <a:latin typeface="Times New Roman" panose="02020603050405020304"/>
            </a:endParaRPr>
          </a:p>
          <a:p>
            <a:pPr marL="10106025" lvl="4" indent="-1125220">
              <a:spcBef>
                <a:spcPts val="3875"/>
              </a:spcBef>
              <a:buClr>
                <a:srgbClr val="000000"/>
              </a:buClr>
              <a:buFont typeface="Times New Roman" panose="02020603050405020304"/>
              <a:buChar char="»"/>
              <a:tabLst>
                <a:tab pos="4490720" algn="l"/>
                <a:tab pos="8981440" algn="l"/>
              </a:tabLst>
            </a:pPr>
            <a:r>
              <a:rPr lang="en-US" sz="15500" b="0" strike="noStrike" spc="-1">
                <a:solidFill>
                  <a:srgbClr val="000000"/>
                </a:solidFill>
                <a:latin typeface="Times New Roman" panose="02020603050405020304"/>
              </a:rPr>
              <a:t>Fifth Outline Level</a:t>
            </a:r>
            <a:endParaRPr lang="en-US" sz="15500" b="0" strike="noStrike" spc="-1">
              <a:solidFill>
                <a:srgbClr val="000000"/>
              </a:solidFill>
              <a:latin typeface="Times New Roman" panose="02020603050405020304"/>
            </a:endParaRPr>
          </a:p>
          <a:p>
            <a:pPr marL="10106025" lvl="5" indent="-1125220">
              <a:spcBef>
                <a:spcPts val="3875"/>
              </a:spcBef>
              <a:buClr>
                <a:srgbClr val="000000"/>
              </a:buClr>
              <a:buFont typeface="Times New Roman" panose="02020603050405020304"/>
              <a:buChar char="»"/>
              <a:tabLst>
                <a:tab pos="4490720" algn="l"/>
                <a:tab pos="8981440" algn="l"/>
              </a:tabLst>
            </a:pPr>
            <a:r>
              <a:rPr lang="en-US" sz="15500" b="0" strike="noStrike" spc="-1">
                <a:solidFill>
                  <a:srgbClr val="000000"/>
                </a:solidFill>
                <a:latin typeface="Times New Roman" panose="02020603050405020304"/>
              </a:rPr>
              <a:t>Sixth Outline Level</a:t>
            </a:r>
            <a:endParaRPr lang="en-US" sz="15500" b="0" strike="noStrike" spc="-1">
              <a:solidFill>
                <a:srgbClr val="000000"/>
              </a:solidFill>
              <a:latin typeface="Times New Roman" panose="02020603050405020304"/>
            </a:endParaRPr>
          </a:p>
          <a:p>
            <a:pPr marL="10106025" lvl="6" indent="-1125220">
              <a:spcBef>
                <a:spcPts val="3875"/>
              </a:spcBef>
              <a:buClr>
                <a:srgbClr val="000000"/>
              </a:buClr>
              <a:buFont typeface="Times New Roman" panose="02020603050405020304"/>
              <a:buChar char="»"/>
              <a:tabLst>
                <a:tab pos="4490720" algn="l"/>
                <a:tab pos="8981440" algn="l"/>
              </a:tabLst>
            </a:pPr>
            <a:r>
              <a:rPr lang="en-US" sz="15500" b="0" strike="noStrike" spc="-1">
                <a:solidFill>
                  <a:srgbClr val="000000"/>
                </a:solidFill>
                <a:latin typeface="Times New Roman" panose="02020603050405020304"/>
              </a:rPr>
              <a:t>Seventh Outline Level</a:t>
            </a:r>
            <a:endParaRPr lang="en-US" sz="155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3209760" y="27589320"/>
            <a:ext cx="8918640" cy="2017440"/>
          </a:xfrm>
          <a:prstGeom prst="rect">
            <a:avLst/>
          </a:prstGeom>
          <a:noFill/>
          <a:ln w="0">
            <a:noFill/>
          </a:ln>
        </p:spPr>
        <p:txBody>
          <a:bodyPr lIns="449280" tIns="224640" rIns="449280" bIns="224640" anchor="t">
            <a:noAutofit/>
          </a:bodyPr>
          <a:lstStyle/>
          <a:p>
            <a:pPr indent="0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3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14625360" y="27589320"/>
            <a:ext cx="13557240" cy="2017440"/>
          </a:xfrm>
          <a:prstGeom prst="rect">
            <a:avLst/>
          </a:prstGeom>
          <a:noFill/>
          <a:ln w="0">
            <a:noFill/>
          </a:ln>
        </p:spPr>
        <p:txBody>
          <a:bodyPr lIns="449280" tIns="224640" rIns="449280" bIns="224640" anchor="t">
            <a:noAutofit/>
          </a:bodyPr>
          <a:lstStyle/>
          <a:p>
            <a:pPr indent="0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3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30679920" y="27589320"/>
            <a:ext cx="8918640" cy="2017440"/>
          </a:xfrm>
          <a:prstGeom prst="rect">
            <a:avLst/>
          </a:prstGeom>
          <a:noFill/>
          <a:ln w="0">
            <a:noFill/>
          </a:ln>
        </p:spPr>
        <p:txBody>
          <a:bodyPr lIns="449280" tIns="224640" rIns="449280" bIns="22464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GB" sz="7000" b="0" strike="noStrike" spc="-1">
                <a:solidFill>
                  <a:srgbClr val="000000"/>
                </a:solidFill>
                <a:latin typeface="Times New Roman" panose="02020603050405020304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C38118B2-BF46-4752-9CBD-F30A83D594C5}" type="slidenum">
              <a:rPr lang="en-GB" sz="7000" b="0" strike="noStrike" spc="-1">
                <a:solidFill>
                  <a:srgbClr val="000000"/>
                </a:solidFill>
                <a:latin typeface="Times New Roman" panose="02020603050405020304"/>
              </a:rPr>
            </a:fld>
            <a:endParaRPr lang="en-US" sz="70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.xml"/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Box 81"/>
          <p:cNvSpPr/>
          <p:nvPr/>
        </p:nvSpPr>
        <p:spPr>
          <a:xfrm>
            <a:off x="0" y="29298960"/>
            <a:ext cx="42808680" cy="993600"/>
          </a:xfrm>
          <a:prstGeom prst="rect">
            <a:avLst/>
          </a:prstGeom>
          <a:solidFill>
            <a:srgbClr val="00668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 anchorCtr="1">
            <a:noAutofit/>
          </a:bodyPr>
          <a:lstStyle/>
          <a:p>
            <a:pPr>
              <a:spcBef>
                <a:spcPts val="3375"/>
              </a:spcBef>
              <a:tabLst>
                <a:tab pos="0" algn="l"/>
                <a:tab pos="915670" algn="l"/>
                <a:tab pos="1831975" algn="l"/>
                <a:tab pos="2747645" algn="l"/>
                <a:tab pos="3663950" algn="l"/>
                <a:tab pos="4579620" algn="l"/>
                <a:tab pos="5495290" algn="l"/>
                <a:tab pos="6411595" algn="l"/>
                <a:tab pos="7327265" algn="l"/>
                <a:tab pos="8243570" algn="l"/>
                <a:tab pos="9159240" algn="l"/>
                <a:tab pos="10075545" algn="l"/>
              </a:tabLst>
            </a:pPr>
            <a:endParaRPr lang="en-US" sz="23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3" name="Rectangle 9"/>
          <p:cNvSpPr/>
          <p:nvPr/>
        </p:nvSpPr>
        <p:spPr>
          <a:xfrm>
            <a:off x="1008000" y="29335320"/>
            <a:ext cx="30830760" cy="916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t">
            <a:spAutoFit/>
          </a:bodyPr>
          <a:lstStyle/>
          <a:p>
            <a:pPr>
              <a:spcBef>
                <a:spcPts val="337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5400" b="1" strike="noStrike" spc="-1">
                <a:solidFill>
                  <a:srgbClr val="FFFFFF"/>
                </a:solidFill>
                <a:latin typeface="Arial" panose="020B0604020202020204"/>
                <a:ea typeface="Arial" panose="020B0604020202020204"/>
              </a:rPr>
              <a:t>Our Dedication.Your Journey.</a:t>
            </a:r>
            <a:endParaRPr lang="en-US" sz="5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4" name="Rectangle 5"/>
          <p:cNvSpPr/>
          <p:nvPr/>
        </p:nvSpPr>
        <p:spPr>
          <a:xfrm>
            <a:off x="31964400" y="29322720"/>
            <a:ext cx="9853560" cy="916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t">
            <a:spAutoFit/>
          </a:bodyPr>
          <a:lstStyle/>
          <a:p>
            <a:pPr algn="r">
              <a:spcBef>
                <a:spcPts val="3375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5400" b="1" strike="noStrike" spc="-1">
                <a:solidFill>
                  <a:srgbClr val="FFFFFF"/>
                </a:solidFill>
                <a:latin typeface="Arial" panose="020B0604020202020204"/>
                <a:ea typeface="Arial" panose="020B0604020202020204"/>
              </a:rPr>
              <a:t>www.cct.ie</a:t>
            </a:r>
            <a:endParaRPr lang="en-US" sz="5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grpSp>
        <p:nvGrpSpPr>
          <p:cNvPr id="18" name="Group 25"/>
          <p:cNvGrpSpPr/>
          <p:nvPr/>
        </p:nvGrpSpPr>
        <p:grpSpPr>
          <a:xfrm>
            <a:off x="920880" y="4964040"/>
            <a:ext cx="12885480" cy="1099800"/>
            <a:chOff x="920880" y="4964040"/>
            <a:chExt cx="12885480" cy="1099800"/>
          </a:xfrm>
        </p:grpSpPr>
        <p:sp>
          <p:nvSpPr>
            <p:cNvPr id="19" name="Rectangle 241"/>
            <p:cNvSpPr/>
            <p:nvPr/>
          </p:nvSpPr>
          <p:spPr>
            <a:xfrm>
              <a:off x="920880" y="4964040"/>
              <a:ext cx="12885480" cy="109980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6800" rIns="90000" bIns="46800" anchor="t">
              <a:spAutoFit/>
            </a:bodyPr>
            <a:lstStyle/>
            <a:p>
              <a: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6600" b="1" strike="noStrike" spc="-1">
                  <a:solidFill>
                    <a:srgbClr val="006684"/>
                  </a:solidFill>
                  <a:latin typeface="Arial" panose="020B0604020202020204"/>
                  <a:ea typeface="Arial" panose="020B0604020202020204"/>
                </a:rPr>
                <a:t>What is Computer Vision?</a:t>
              </a:r>
              <a:endParaRPr lang="en-US" sz="6600" b="0" strike="noStrike" spc="-1">
                <a:solidFill>
                  <a:srgbClr val="000000"/>
                </a:solidFill>
                <a:latin typeface="Arial" panose="020B0604020202020204"/>
              </a:endParaRPr>
            </a:p>
          </p:txBody>
        </p:sp>
        <p:sp>
          <p:nvSpPr>
            <p:cNvPr id="20" name="Straight Connector 6"/>
            <p:cNvSpPr/>
            <p:nvPr/>
          </p:nvSpPr>
          <p:spPr>
            <a:xfrm>
              <a:off x="1060560" y="5107680"/>
              <a:ext cx="12745800" cy="0"/>
            </a:xfrm>
            <a:prstGeom prst="line">
              <a:avLst/>
            </a:prstGeom>
            <a:ln w="12600">
              <a:solidFill>
                <a:srgbClr val="006684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-46800" rIns="90000" bIns="-46800" anchor="t">
              <a:noAutofit/>
            </a:bodyPr>
            <a:lstStyle/>
            <a:p>
              <a:endParaRPr lang="en-US" sz="2300" b="0" strike="noStrike" spc="-1">
                <a:solidFill>
                  <a:srgbClr val="000000"/>
                </a:solidFill>
                <a:latin typeface="Arial" panose="020B0604020202020204"/>
              </a:endParaRPr>
            </a:p>
          </p:txBody>
        </p:sp>
      </p:grpSp>
      <p:sp>
        <p:nvSpPr>
          <p:cNvPr id="21" name="Rectangle 24"/>
          <p:cNvSpPr/>
          <p:nvPr/>
        </p:nvSpPr>
        <p:spPr>
          <a:xfrm>
            <a:off x="952560" y="6154560"/>
            <a:ext cx="12936600" cy="1458175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t">
            <a:spAutoFit/>
          </a:bodyPr>
          <a:lstStyle/>
          <a:p>
            <a:pPr algn="just">
              <a:lnSpc>
                <a:spcPts val="5000"/>
              </a:lnSpc>
            </a:pPr>
            <a:r>
              <a:rPr lang="en-GB" sz="3600" b="0" strike="noStrike" spc="-1" dirty="0">
                <a:solidFill>
                  <a:srgbClr val="000000"/>
                </a:solidFill>
                <a:latin typeface="Arial" panose="020B0604020202020204"/>
                <a:ea typeface="Arial" panose="020B0604020202020204"/>
              </a:rPr>
              <a:t>Computer vision is a branch of artificial intelligence that enables machines to interpret and understand images and videos (</a:t>
            </a:r>
            <a:r>
              <a:rPr lang="en-GB" sz="3600" b="0" strike="noStrike" spc="-1" dirty="0" err="1">
                <a:solidFill>
                  <a:srgbClr val="000000"/>
                </a:solidFill>
                <a:latin typeface="Arial" panose="020B0604020202020204"/>
                <a:ea typeface="Arial" panose="020B0604020202020204"/>
              </a:rPr>
              <a:t>Szeliski</a:t>
            </a:r>
            <a:r>
              <a:rPr lang="en-GB" sz="3600" b="0" strike="noStrike" spc="-1" dirty="0">
                <a:solidFill>
                  <a:srgbClr val="000000"/>
                </a:solidFill>
                <a:latin typeface="Arial" panose="020B0604020202020204"/>
                <a:ea typeface="Arial" panose="020B0604020202020204"/>
              </a:rPr>
              <a:t>, 2022). To a computer, an image is a grid of tiny squares called pixels, each storing a number that represents its colour or brightness. A camera first captures the scene; an AI model, typically a Convolutional Neural Network (CNN), then identifies patterns such as edges, shapes and objects, and finally produces a meaningful output, such as recognising a face (</a:t>
            </a:r>
            <a:r>
              <a:rPr lang="en-GB" sz="3600" b="0" strike="noStrike" spc="-1" dirty="0" err="1">
                <a:solidFill>
                  <a:srgbClr val="000000"/>
                </a:solidFill>
                <a:latin typeface="Arial" panose="020B0604020202020204"/>
                <a:ea typeface="Arial" panose="020B0604020202020204"/>
              </a:rPr>
              <a:t>Szeliski</a:t>
            </a:r>
            <a:r>
              <a:rPr lang="en-GB" sz="3600" b="0" strike="noStrike" spc="-1" dirty="0">
                <a:solidFill>
                  <a:srgbClr val="000000"/>
                </a:solidFill>
                <a:latin typeface="Arial" panose="020B0604020202020204"/>
                <a:ea typeface="Arial" panose="020B0604020202020204"/>
              </a:rPr>
              <a:t>, 2022).</a:t>
            </a:r>
            <a:endParaRPr lang="en-GB" sz="3600" b="0" strike="noStrike" spc="-1" dirty="0">
              <a:solidFill>
                <a:srgbClr val="000000"/>
              </a:solidFill>
              <a:latin typeface="Arial" panose="020B0604020202020204"/>
            </a:endParaRPr>
          </a:p>
          <a:p>
            <a:pPr algn="just">
              <a:lnSpc>
                <a:spcPts val="5000"/>
              </a:lnSpc>
              <a:spcBef>
                <a:spcPts val="1800"/>
              </a:spcBef>
            </a:pPr>
            <a:r>
              <a:rPr lang="en-GB" sz="3600" b="0" strike="noStrike" spc="-1" dirty="0">
                <a:solidFill>
                  <a:srgbClr val="000000"/>
                </a:solidFill>
                <a:latin typeface="Arial" panose="020B0604020202020204"/>
                <a:ea typeface="Arial" panose="020B0604020202020204"/>
              </a:rPr>
              <a:t>The field emerged at MIT in the 1960s, when researchers first attempted to teach computers to perceive three-dimensional objects (Roberts, 1963). In the 1990s, CNNs learned to read handwritten digits (</a:t>
            </a:r>
            <a:r>
              <a:rPr lang="en-GB" sz="3600" b="0" strike="noStrike" spc="-1" dirty="0" err="1">
                <a:solidFill>
                  <a:srgbClr val="000000"/>
                </a:solidFill>
                <a:latin typeface="Arial" panose="020B0604020202020204"/>
                <a:ea typeface="Arial" panose="020B0604020202020204"/>
              </a:rPr>
              <a:t>LeCun</a:t>
            </a:r>
            <a:r>
              <a:rPr lang="en-GB" sz="3600" b="0" strike="noStrike" spc="-1" dirty="0">
                <a:solidFill>
                  <a:srgbClr val="000000"/>
                </a:solidFill>
                <a:latin typeface="Arial" panose="020B0604020202020204"/>
                <a:ea typeface="Arial" panose="020B0604020202020204"/>
              </a:rPr>
              <a:t> et al., 1998), and in 2012 deep learning dramatically improved object recognition (</a:t>
            </a:r>
            <a:r>
              <a:rPr lang="en-GB" sz="3600" b="0" strike="noStrike" spc="-1" dirty="0" err="1">
                <a:solidFill>
                  <a:srgbClr val="000000"/>
                </a:solidFill>
                <a:latin typeface="Arial" panose="020B0604020202020204"/>
                <a:ea typeface="Arial" panose="020B0604020202020204"/>
              </a:rPr>
              <a:t>Krizhevsky</a:t>
            </a:r>
            <a:r>
              <a:rPr lang="en-GB" sz="3600" b="0" strike="noStrike" spc="-1" dirty="0">
                <a:solidFill>
                  <a:srgbClr val="000000"/>
                </a:solidFill>
                <a:latin typeface="Arial" panose="020B0604020202020204"/>
                <a:ea typeface="Arial" panose="020B0604020202020204"/>
              </a:rPr>
              <a:t>, </a:t>
            </a:r>
            <a:r>
              <a:rPr lang="en-GB" sz="3600" b="0" strike="noStrike" spc="-1" dirty="0" err="1">
                <a:solidFill>
                  <a:srgbClr val="000000"/>
                </a:solidFill>
                <a:latin typeface="Arial" panose="020B0604020202020204"/>
                <a:ea typeface="Arial" panose="020B0604020202020204"/>
              </a:rPr>
              <a:t>Sutskever</a:t>
            </a:r>
            <a:r>
              <a:rPr lang="en-GB" sz="3600" b="0" strike="noStrike" spc="-1" dirty="0">
                <a:solidFill>
                  <a:srgbClr val="000000"/>
                </a:solidFill>
                <a:latin typeface="Arial" panose="020B0604020202020204"/>
                <a:ea typeface="Arial" panose="020B0604020202020204"/>
              </a:rPr>
              <a:t> and Hinton, 2012).</a:t>
            </a:r>
            <a:endParaRPr lang="en-GB" sz="3600" b="0" strike="noStrike" spc="-1" dirty="0">
              <a:solidFill>
                <a:srgbClr val="000000"/>
              </a:solidFill>
              <a:latin typeface="Arial" panose="020B0604020202020204"/>
            </a:endParaRPr>
          </a:p>
          <a:p>
            <a:pPr algn="just">
              <a:lnSpc>
                <a:spcPts val="5000"/>
              </a:lnSpc>
              <a:spcBef>
                <a:spcPts val="1800"/>
              </a:spcBef>
            </a:pPr>
            <a:r>
              <a:rPr lang="en-GB" sz="3600" b="0" strike="noStrike" spc="-1" dirty="0">
                <a:solidFill>
                  <a:srgbClr val="000000"/>
                </a:solidFill>
                <a:latin typeface="Arial" panose="020B0604020202020204"/>
                <a:ea typeface="Arial" panose="020B0604020202020204"/>
              </a:rPr>
              <a:t>Key applications include:</a:t>
            </a:r>
            <a:endParaRPr lang="en-GB" sz="3600" b="0" strike="noStrike" spc="-1" dirty="0">
              <a:solidFill>
                <a:srgbClr val="000000"/>
              </a:solidFill>
              <a:latin typeface="Arial" panose="020B0604020202020204"/>
            </a:endParaRPr>
          </a:p>
          <a:p>
            <a:pPr marL="457200" indent="-457200" algn="just">
              <a:lnSpc>
                <a:spcPts val="5000"/>
              </a:lnSpc>
              <a:spcBef>
                <a:spcPts val="12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GB" sz="3600" b="0" strike="noStrike" spc="-1" dirty="0">
                <a:solidFill>
                  <a:srgbClr val="000000"/>
                </a:solidFill>
                <a:latin typeface="Arial" panose="020B0604020202020204"/>
                <a:ea typeface="Arial" panose="020B0604020202020204"/>
              </a:rPr>
              <a:t>Facial recognition and smartphone unlocking</a:t>
            </a:r>
            <a:endParaRPr lang="en-GB" sz="3600" b="0" strike="noStrike" spc="-1" dirty="0">
              <a:solidFill>
                <a:srgbClr val="000000"/>
              </a:solidFill>
              <a:latin typeface="Arial" panose="020B0604020202020204"/>
            </a:endParaRPr>
          </a:p>
          <a:p>
            <a:pPr marL="457200" indent="-457200" algn="just">
              <a:lnSpc>
                <a:spcPts val="5000"/>
              </a:lnSpc>
              <a:spcBef>
                <a:spcPts val="12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GB" sz="3600" b="0" strike="noStrike" spc="-1" dirty="0">
                <a:solidFill>
                  <a:srgbClr val="000000"/>
                </a:solidFill>
                <a:latin typeface="Arial" panose="020B0604020202020204"/>
                <a:ea typeface="Arial" panose="020B0604020202020204"/>
              </a:rPr>
              <a:t>Self-driving cars</a:t>
            </a:r>
            <a:endParaRPr lang="en-GB" sz="3600" b="0" strike="noStrike" spc="-1" dirty="0">
              <a:solidFill>
                <a:srgbClr val="000000"/>
              </a:solidFill>
              <a:latin typeface="Arial" panose="020B0604020202020204"/>
            </a:endParaRPr>
          </a:p>
          <a:p>
            <a:pPr marL="457200" indent="-457200" algn="just">
              <a:lnSpc>
                <a:spcPts val="5000"/>
              </a:lnSpc>
              <a:spcBef>
                <a:spcPts val="12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GB" sz="3600" b="0" strike="noStrike" spc="-1" dirty="0">
                <a:solidFill>
                  <a:srgbClr val="000000"/>
                </a:solidFill>
                <a:latin typeface="Arial" panose="020B0604020202020204"/>
                <a:ea typeface="Arial" panose="020B0604020202020204"/>
              </a:rPr>
              <a:t>Intelligent security cameras</a:t>
            </a:r>
            <a:endParaRPr lang="en-GB" sz="3600" b="0" strike="noStrike" spc="-1" dirty="0">
              <a:solidFill>
                <a:srgbClr val="000000"/>
              </a:solidFill>
              <a:latin typeface="Arial" panose="020B0604020202020204"/>
            </a:endParaRPr>
          </a:p>
          <a:p>
            <a:pPr marL="457200" indent="-457200" algn="just">
              <a:lnSpc>
                <a:spcPts val="5000"/>
              </a:lnSpc>
              <a:spcBef>
                <a:spcPts val="12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GB" sz="3600" b="0" strike="noStrike" spc="-1" dirty="0">
                <a:solidFill>
                  <a:srgbClr val="000000"/>
                </a:solidFill>
                <a:latin typeface="Arial" panose="020B0604020202020204"/>
                <a:ea typeface="Arial" panose="020B0604020202020204"/>
              </a:rPr>
              <a:t>Medical imaging and skin-cancer detection (</a:t>
            </a:r>
            <a:r>
              <a:rPr lang="en-GB" sz="3600" b="0" strike="noStrike" spc="-1" dirty="0" err="1">
                <a:solidFill>
                  <a:srgbClr val="000000"/>
                </a:solidFill>
                <a:latin typeface="Arial" panose="020B0604020202020204"/>
                <a:ea typeface="Arial" panose="020B0604020202020204"/>
              </a:rPr>
              <a:t>Esteva</a:t>
            </a:r>
            <a:r>
              <a:rPr lang="en-GB" sz="3600" b="0" strike="noStrike" spc="-1" dirty="0">
                <a:solidFill>
                  <a:srgbClr val="000000"/>
                </a:solidFill>
                <a:latin typeface="Arial" panose="020B0604020202020204"/>
                <a:ea typeface="Arial" panose="020B0604020202020204"/>
              </a:rPr>
              <a:t> et al., 2017)</a:t>
            </a:r>
            <a:endParaRPr lang="en-GB" sz="3600" b="0" strike="noStrike" spc="-1" dirty="0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23" name="Rectangle 20"/>
          <p:cNvSpPr/>
          <p:nvPr/>
        </p:nvSpPr>
        <p:spPr>
          <a:xfrm>
            <a:off x="28943280" y="14419440"/>
            <a:ext cx="12787200" cy="461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t">
            <a:spAutoFit/>
          </a:bodyPr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3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24" name="Rectangle 20"/>
          <p:cNvSpPr/>
          <p:nvPr/>
        </p:nvSpPr>
        <p:spPr>
          <a:xfrm>
            <a:off x="15017760" y="28150000"/>
            <a:ext cx="12787200" cy="52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t">
            <a:spAutoFit/>
          </a:bodyPr>
          <a:lstStyle/>
          <a:p>
            <a:pPr>
              <a:lnSpc>
                <a:spcPts val="34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2400" b="1" strike="noStrike" spc="-1">
                <a:solidFill>
                  <a:srgbClr val="000000"/>
                </a:solidFill>
                <a:latin typeface="Arial" panose="020B0604020202020204"/>
                <a:ea typeface="Arial" panose="020B0604020202020204"/>
              </a:rPr>
              <a:t>Fig. 2</a:t>
            </a:r>
            <a:r>
              <a:rPr lang="en-GB" sz="2400" b="0" strike="noStrike" spc="-1">
                <a:solidFill>
                  <a:srgbClr val="000000"/>
                </a:solidFill>
                <a:latin typeface="Arial" panose="020B0604020202020204"/>
                <a:ea typeface="Arial" panose="020B0604020202020204"/>
              </a:rPr>
              <a:t> Facial recognition matching a face to an identity database (own illustration)</a:t>
            </a:r>
            <a:endParaRPr lang="en-US" sz="2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25" name="Rectangle 30"/>
          <p:cNvSpPr/>
          <p:nvPr/>
        </p:nvSpPr>
        <p:spPr>
          <a:xfrm>
            <a:off x="15109920" y="24000000"/>
            <a:ext cx="517320" cy="646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t">
            <a:spAutoFit/>
          </a:bodyPr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3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27" name="Rectangle 102"/>
          <p:cNvSpPr/>
          <p:nvPr/>
        </p:nvSpPr>
        <p:spPr>
          <a:xfrm>
            <a:off x="15109920" y="26000000"/>
            <a:ext cx="517320" cy="647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t">
            <a:spAutoFit/>
          </a:bodyPr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3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28" name="Rectangle 106"/>
          <p:cNvSpPr/>
          <p:nvPr/>
        </p:nvSpPr>
        <p:spPr>
          <a:xfrm>
            <a:off x="28943280" y="6221520"/>
            <a:ext cx="12787200" cy="3876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t">
            <a:spAutoFit/>
          </a:bodyPr>
          <a:lstStyle/>
          <a:p>
            <a:pPr>
              <a:lnSpc>
                <a:spcPts val="4995"/>
              </a:lnSpc>
              <a:spcBef>
                <a:spcPts val="18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3600" b="0" strike="noStrike" spc="-1">
                <a:solidFill>
                  <a:srgbClr val="000000"/>
                </a:solidFill>
                <a:latin typeface="Arial" panose="020B0604020202020204"/>
                <a:ea typeface="Arial" panose="020B0604020202020204"/>
              </a:rPr>
              <a:t>Section 3: Use case text here (~110–120 words)</a:t>
            </a:r>
            <a:endParaRPr lang="en-US" sz="36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95" name="Rectangle 106"/>
          <p:cNvSpPr/>
          <p:nvPr/>
        </p:nvSpPr>
        <p:spPr>
          <a:xfrm>
            <a:off x="28943280" y="18749560"/>
            <a:ext cx="12787200" cy="3876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t">
            <a:spAutoFit/>
          </a:bodyPr>
          <a:lstStyle/>
          <a:p>
            <a:pPr>
              <a:lnSpc>
                <a:spcPts val="4995"/>
              </a:lnSpc>
              <a:spcBef>
                <a:spcPts val="18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3600" b="0" strike="noStrike" spc="-1">
                <a:solidFill>
                  <a:srgbClr val="000000"/>
                </a:solidFill>
                <a:latin typeface="Arial" panose="020B0604020202020204"/>
                <a:ea typeface="Arial" panose="020B0604020202020204"/>
              </a:rPr>
              <a:t>Section 4: Mitigation text here (~90–100 words)</a:t>
            </a:r>
            <a:endParaRPr lang="en-US" sz="36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grpSp>
        <p:nvGrpSpPr>
          <p:cNvPr id="29" name="Group 107"/>
          <p:cNvGrpSpPr/>
          <p:nvPr/>
        </p:nvGrpSpPr>
        <p:grpSpPr>
          <a:xfrm>
            <a:off x="15016320" y="4975200"/>
            <a:ext cx="12885480" cy="1099800"/>
            <a:chOff x="15016320" y="4975200"/>
            <a:chExt cx="12885480" cy="1099800"/>
          </a:xfrm>
        </p:grpSpPr>
        <p:sp>
          <p:nvSpPr>
            <p:cNvPr id="30" name="Rectangle 249"/>
            <p:cNvSpPr/>
            <p:nvPr/>
          </p:nvSpPr>
          <p:spPr>
            <a:xfrm>
              <a:off x="15016320" y="4975200"/>
              <a:ext cx="12885480" cy="109980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6800" rIns="90000" bIns="46800" anchor="t">
              <a:spAutoFit/>
            </a:bodyPr>
            <a:lstStyle/>
            <a:p>
              <a: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6600" b="1" strike="noStrike" spc="-1">
                  <a:solidFill>
                    <a:srgbClr val="006684"/>
                  </a:solidFill>
                  <a:latin typeface="Arial" panose="020B0604020202020204"/>
                  <a:ea typeface="Arial" panose="020B0604020202020204"/>
                </a:rPr>
                <a:t>Ethical, Legal &amp; Social Impact</a:t>
              </a:r>
              <a:endParaRPr lang="en-US" sz="6600" b="0" strike="noStrike" spc="-1">
                <a:solidFill>
                  <a:srgbClr val="000000"/>
                </a:solidFill>
                <a:latin typeface="Arial" panose="020B0604020202020204"/>
              </a:endParaRPr>
            </a:p>
          </p:txBody>
        </p:sp>
        <p:sp>
          <p:nvSpPr>
            <p:cNvPr id="31" name="Straight Connector 6"/>
            <p:cNvSpPr/>
            <p:nvPr/>
          </p:nvSpPr>
          <p:spPr>
            <a:xfrm>
              <a:off x="15140880" y="5101560"/>
              <a:ext cx="12744000" cy="0"/>
            </a:xfrm>
            <a:prstGeom prst="line">
              <a:avLst/>
            </a:prstGeom>
            <a:ln w="12600">
              <a:solidFill>
                <a:srgbClr val="006684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-46800" rIns="90000" bIns="-46800" anchor="t">
              <a:noAutofit/>
            </a:bodyPr>
            <a:lstStyle/>
            <a:p>
              <a:endParaRPr lang="en-US" sz="2300" b="0" strike="noStrike" spc="-1">
                <a:solidFill>
                  <a:srgbClr val="000000"/>
                </a:solidFill>
                <a:latin typeface="Arial" panose="020B0604020202020204"/>
              </a:endParaRPr>
            </a:p>
          </p:txBody>
        </p:sp>
      </p:grpSp>
      <p:sp>
        <p:nvSpPr>
          <p:cNvPr id="32" name="Rectangle 20"/>
          <p:cNvSpPr/>
          <p:nvPr/>
        </p:nvSpPr>
        <p:spPr>
          <a:xfrm>
            <a:off x="28946520" y="25300000"/>
            <a:ext cx="12306240" cy="804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t">
            <a:spAutoFit/>
          </a:bodyPr>
          <a:lstStyle/>
          <a:p>
            <a:pPr>
              <a:lnSpc>
                <a:spcPts val="2200"/>
              </a:lnSpc>
              <a:spcAft>
                <a:spcPts val="1200"/>
              </a:spcAft>
            </a:pPr>
            <a:r>
              <a:rPr lang="en-GB" sz="3600" b="1" strike="noStrike" spc="-1">
                <a:solidFill>
                  <a:srgbClr val="000000"/>
                </a:solidFill>
                <a:latin typeface="Arial" panose="020B0604020202020204"/>
                <a:ea typeface="Arial" panose="020B0604020202020204"/>
              </a:rPr>
              <a:t>References</a:t>
            </a:r>
            <a:endParaRPr lang="en-GB" sz="36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>
              <a:lnSpc>
                <a:spcPts val="2200"/>
              </a:lnSpc>
              <a:spcAft>
                <a:spcPts val="600"/>
              </a:spcAft>
            </a:pPr>
            <a:r>
              <a:rPr lang="en-GB" sz="1500" b="0" strike="noStrike" spc="-1">
                <a:solidFill>
                  <a:srgbClr val="000000"/>
                </a:solidFill>
                <a:latin typeface="Arial" panose="020B0604020202020204"/>
                <a:ea typeface="Arial" panose="020B0604020202020204"/>
              </a:rPr>
              <a:t>Esteva, A., Kuprel, B., Novoa, R.A., Ko, J., Swetter, S.M., Blau, H.M. and Thrun, S. (2017) ‘Dermatologist-level classification of skin cancer with deep neural networks’, </a:t>
            </a:r>
            <a:r>
              <a:rPr lang="en-GB" sz="1500" b="0" i="1" strike="noStrike" spc="-1">
                <a:solidFill>
                  <a:srgbClr val="000000"/>
                </a:solidFill>
                <a:latin typeface="Arial" panose="020B0604020202020204"/>
                <a:ea typeface="Arial" panose="020B0604020202020204"/>
              </a:rPr>
              <a:t>Nature</a:t>
            </a:r>
            <a:r>
              <a:rPr lang="en-GB" sz="1500" b="0" strike="noStrike" spc="-1">
                <a:solidFill>
                  <a:srgbClr val="000000"/>
                </a:solidFill>
                <a:latin typeface="Arial" panose="020B0604020202020204"/>
                <a:ea typeface="Arial" panose="020B0604020202020204"/>
              </a:rPr>
              <a:t>, 542(7639), pp. 115–118.</a:t>
            </a:r>
            <a:endParaRPr lang="en-GB" sz="15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>
              <a:lnSpc>
                <a:spcPts val="2200"/>
              </a:lnSpc>
              <a:spcAft>
                <a:spcPts val="600"/>
              </a:spcAft>
            </a:pPr>
            <a:r>
              <a:rPr lang="en-GB" sz="1500" b="0" strike="noStrike" spc="-1">
                <a:solidFill>
                  <a:srgbClr val="000000"/>
                </a:solidFill>
                <a:latin typeface="Arial" panose="020B0604020202020204"/>
                <a:ea typeface="Arial" panose="020B0604020202020204"/>
              </a:rPr>
              <a:t>Krizhevsky, A., Sutskever, I. and Hinton, G.E. (2012) ‘ImageNet classification with deep convolutional neural networks’, </a:t>
            </a:r>
            <a:r>
              <a:rPr lang="en-GB" sz="1500" b="0" i="1" strike="noStrike" spc="-1">
                <a:solidFill>
                  <a:srgbClr val="000000"/>
                </a:solidFill>
                <a:latin typeface="Arial" panose="020B0604020202020204"/>
                <a:ea typeface="Arial" panose="020B0604020202020204"/>
              </a:rPr>
              <a:t>Advances in Neural Information Processing Systems</a:t>
            </a:r>
            <a:r>
              <a:rPr lang="en-GB" sz="1500" b="0" strike="noStrike" spc="-1">
                <a:solidFill>
                  <a:srgbClr val="000000"/>
                </a:solidFill>
                <a:latin typeface="Arial" panose="020B0604020202020204"/>
                <a:ea typeface="Arial" panose="020B0604020202020204"/>
              </a:rPr>
              <a:t>, 25, pp. 1097–1105.</a:t>
            </a:r>
            <a:endParaRPr lang="en-GB" sz="15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>
              <a:lnSpc>
                <a:spcPts val="2200"/>
              </a:lnSpc>
              <a:spcAft>
                <a:spcPts val="600"/>
              </a:spcAft>
            </a:pPr>
            <a:r>
              <a:rPr lang="en-GB" sz="1500" b="0" strike="noStrike" spc="-1">
                <a:solidFill>
                  <a:srgbClr val="000000"/>
                </a:solidFill>
                <a:latin typeface="Arial" panose="020B0604020202020204"/>
                <a:ea typeface="Arial" panose="020B0604020202020204"/>
              </a:rPr>
              <a:t>LeCun, Y., Bottou, L., Bengio, Y. and Haffner, P. (1998) ‘Gradient-based learning applied to document recognition’, </a:t>
            </a:r>
            <a:r>
              <a:rPr lang="en-GB" sz="1500" b="0" i="1" strike="noStrike" spc="-1">
                <a:solidFill>
                  <a:srgbClr val="000000"/>
                </a:solidFill>
                <a:latin typeface="Arial" panose="020B0604020202020204"/>
                <a:ea typeface="Arial" panose="020B0604020202020204"/>
              </a:rPr>
              <a:t>Proceedings of the IEEE</a:t>
            </a:r>
            <a:r>
              <a:rPr lang="en-GB" sz="1500" b="0" strike="noStrike" spc="-1">
                <a:solidFill>
                  <a:srgbClr val="000000"/>
                </a:solidFill>
                <a:latin typeface="Arial" panose="020B0604020202020204"/>
                <a:ea typeface="Arial" panose="020B0604020202020204"/>
              </a:rPr>
              <a:t>, 86(11), pp. 2278–2324.</a:t>
            </a:r>
            <a:endParaRPr lang="en-GB" sz="15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>
              <a:lnSpc>
                <a:spcPts val="2200"/>
              </a:lnSpc>
              <a:spcAft>
                <a:spcPts val="600"/>
              </a:spcAft>
            </a:pPr>
            <a:r>
              <a:rPr lang="en-GB" sz="1500" b="0" strike="noStrike" spc="-1">
                <a:solidFill>
                  <a:srgbClr val="000000"/>
                </a:solidFill>
                <a:latin typeface="Arial" panose="020B0604020202020204"/>
                <a:ea typeface="Arial" panose="020B0604020202020204"/>
              </a:rPr>
              <a:t>Roberts, L.G. (1963) </a:t>
            </a:r>
            <a:r>
              <a:rPr lang="en-GB" sz="1500" b="0" i="1" strike="noStrike" spc="-1">
                <a:solidFill>
                  <a:srgbClr val="000000"/>
                </a:solidFill>
                <a:latin typeface="Arial" panose="020B0604020202020204"/>
                <a:ea typeface="Arial" panose="020B0604020202020204"/>
              </a:rPr>
              <a:t>Machine perception of three-dimensional solids</a:t>
            </a:r>
            <a:r>
              <a:rPr lang="en-GB" sz="1500" b="0" strike="noStrike" spc="-1">
                <a:solidFill>
                  <a:srgbClr val="000000"/>
                </a:solidFill>
                <a:latin typeface="Arial" panose="020B0604020202020204"/>
                <a:ea typeface="Arial" panose="020B0604020202020204"/>
              </a:rPr>
              <a:t>. PhD thesis. Massachusetts Institute of Technology.</a:t>
            </a:r>
            <a:endParaRPr lang="en-GB" sz="15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>
              <a:lnSpc>
                <a:spcPts val="2200"/>
              </a:lnSpc>
              <a:spcAft>
                <a:spcPts val="600"/>
              </a:spcAft>
            </a:pPr>
            <a:r>
              <a:rPr lang="en-GB" sz="1500" b="0" strike="noStrike" spc="-1">
                <a:solidFill>
                  <a:srgbClr val="000000"/>
                </a:solidFill>
                <a:latin typeface="Arial" panose="020B0604020202020204"/>
                <a:ea typeface="Arial" panose="020B0604020202020204"/>
              </a:rPr>
              <a:t>Szeliski, R. (2022) </a:t>
            </a:r>
            <a:r>
              <a:rPr lang="en-GB" sz="1500" b="0" i="1" strike="noStrike" spc="-1">
                <a:solidFill>
                  <a:srgbClr val="000000"/>
                </a:solidFill>
                <a:latin typeface="Arial" panose="020B0604020202020204"/>
                <a:ea typeface="Arial" panose="020B0604020202020204"/>
              </a:rPr>
              <a:t>Computer vision: algorithms and applications</a:t>
            </a:r>
            <a:r>
              <a:rPr lang="en-GB" sz="1500" b="0" strike="noStrike" spc="-1">
                <a:solidFill>
                  <a:srgbClr val="000000"/>
                </a:solidFill>
                <a:latin typeface="Arial" panose="020B0604020202020204"/>
                <a:ea typeface="Arial" panose="020B0604020202020204"/>
              </a:rPr>
              <a:t>. 2nd edn. Cham: Springer.</a:t>
            </a:r>
            <a:endParaRPr lang="en-GB" sz="15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grpSp>
        <p:nvGrpSpPr>
          <p:cNvPr id="33" name="Group 107"/>
          <p:cNvGrpSpPr/>
          <p:nvPr/>
        </p:nvGrpSpPr>
        <p:grpSpPr>
          <a:xfrm>
            <a:off x="28918080" y="4971960"/>
            <a:ext cx="12885480" cy="1099800"/>
            <a:chOff x="28918080" y="4971960"/>
            <a:chExt cx="12885480" cy="1099800"/>
          </a:xfrm>
        </p:grpSpPr>
        <p:sp>
          <p:nvSpPr>
            <p:cNvPr id="34" name="Rectangle 249"/>
            <p:cNvSpPr/>
            <p:nvPr/>
          </p:nvSpPr>
          <p:spPr>
            <a:xfrm>
              <a:off x="28918080" y="4971960"/>
              <a:ext cx="12885480" cy="109980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6800" rIns="90000" bIns="46800" anchor="t">
              <a:spAutoFit/>
            </a:bodyPr>
            <a:lstStyle/>
            <a:p>
              <a: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6600" b="1" strike="noStrike" spc="-1">
                  <a:solidFill>
                    <a:srgbClr val="006684"/>
                  </a:solidFill>
                  <a:latin typeface="Arial" panose="020B0604020202020204"/>
                  <a:ea typeface="Arial" panose="020B0604020202020204"/>
                </a:rPr>
                <a:t>Use Case</a:t>
              </a:r>
              <a:endParaRPr lang="en-US" sz="6600" b="0" strike="noStrike" spc="-1">
                <a:solidFill>
                  <a:srgbClr val="000000"/>
                </a:solidFill>
                <a:latin typeface="Arial" panose="020B0604020202020204"/>
              </a:endParaRPr>
            </a:p>
          </p:txBody>
        </p:sp>
        <p:sp>
          <p:nvSpPr>
            <p:cNvPr id="35" name="Straight Connector 6"/>
            <p:cNvSpPr/>
            <p:nvPr/>
          </p:nvSpPr>
          <p:spPr>
            <a:xfrm>
              <a:off x="29042640" y="5098320"/>
              <a:ext cx="12744000" cy="0"/>
            </a:xfrm>
            <a:prstGeom prst="line">
              <a:avLst/>
            </a:prstGeom>
            <a:ln w="12600">
              <a:solidFill>
                <a:srgbClr val="006684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-46800" rIns="90000" bIns="-46800" anchor="t">
              <a:noAutofit/>
            </a:bodyPr>
            <a:lstStyle/>
            <a:p>
              <a:endParaRPr lang="en-US" sz="2300" b="0" strike="noStrike" spc="-1">
                <a:solidFill>
                  <a:srgbClr val="000000"/>
                </a:solidFill>
                <a:latin typeface="Arial" panose="020B0604020202020204"/>
              </a:endParaRPr>
            </a:p>
          </p:txBody>
        </p:sp>
      </p:grpSp>
      <p:grpSp>
        <p:nvGrpSpPr>
          <p:cNvPr id="92" name="Group 107"/>
          <p:cNvGrpSpPr/>
          <p:nvPr/>
        </p:nvGrpSpPr>
        <p:grpSpPr>
          <a:xfrm>
            <a:off x="28918080" y="17500000"/>
            <a:ext cx="12885480" cy="1099800"/>
            <a:chOff x="28918080" y="17500000"/>
            <a:chExt cx="12885480" cy="1099800"/>
          </a:xfrm>
        </p:grpSpPr>
        <p:sp>
          <p:nvSpPr>
            <p:cNvPr id="93" name="Rectangle 249"/>
            <p:cNvSpPr/>
            <p:nvPr/>
          </p:nvSpPr>
          <p:spPr>
            <a:xfrm>
              <a:off x="28918080" y="17500000"/>
              <a:ext cx="12885480" cy="109980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6800" rIns="90000" bIns="46800" anchor="t">
              <a:spAutoFit/>
            </a:bodyPr>
            <a:lstStyle/>
            <a:p>
              <a: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6600" b="1" strike="noStrike" spc="-1">
                  <a:solidFill>
                    <a:srgbClr val="006684"/>
                  </a:solidFill>
                  <a:latin typeface="Arial" panose="020B0604020202020204"/>
                  <a:ea typeface="Arial" panose="020B0604020202020204"/>
                </a:rPr>
                <a:t>Mitigation</a:t>
              </a:r>
              <a:endParaRPr lang="en-US" sz="6600" b="0" strike="noStrike" spc="-1">
                <a:solidFill>
                  <a:srgbClr val="000000"/>
                </a:solidFill>
                <a:latin typeface="Arial" panose="020B0604020202020204"/>
              </a:endParaRPr>
            </a:p>
          </p:txBody>
        </p:sp>
        <p:sp>
          <p:nvSpPr>
            <p:cNvPr id="94" name="Straight Connector 6"/>
            <p:cNvSpPr/>
            <p:nvPr/>
          </p:nvSpPr>
          <p:spPr>
            <a:xfrm>
              <a:off x="29042640" y="17626360"/>
              <a:ext cx="12744000" cy="0"/>
            </a:xfrm>
            <a:prstGeom prst="line">
              <a:avLst/>
            </a:prstGeom>
            <a:ln w="12600">
              <a:solidFill>
                <a:srgbClr val="006684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-46800" rIns="90000" bIns="-46800" anchor="t">
              <a:noAutofit/>
            </a:bodyPr>
            <a:lstStyle/>
            <a:p>
              <a:endParaRPr lang="en-US" sz="2300" b="0" strike="noStrike" spc="-1">
                <a:solidFill>
                  <a:srgbClr val="000000"/>
                </a:solidFill>
                <a:latin typeface="Arial" panose="020B0604020202020204"/>
              </a:endParaRPr>
            </a:p>
          </p:txBody>
        </p:sp>
      </p:grpSp>
      <p:sp>
        <p:nvSpPr>
          <p:cNvPr id="36" name="Rectangle 24"/>
          <p:cNvSpPr/>
          <p:nvPr/>
        </p:nvSpPr>
        <p:spPr>
          <a:xfrm>
            <a:off x="14998680" y="6154560"/>
            <a:ext cx="12936600" cy="728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t">
            <a:spAutoFit/>
          </a:bodyPr>
          <a:lstStyle/>
          <a:p>
            <a:pPr>
              <a:lnSpc>
                <a:spcPts val="4995"/>
              </a:lnSpc>
              <a:spcBef>
                <a:spcPts val="1800"/>
              </a:spcBef>
              <a:tabLst>
                <a:tab pos="0" algn="l"/>
                <a:tab pos="915670" algn="l"/>
                <a:tab pos="1831975" algn="l"/>
                <a:tab pos="2747645" algn="l"/>
                <a:tab pos="3663950" algn="l"/>
                <a:tab pos="4579620" algn="l"/>
                <a:tab pos="5495290" algn="l"/>
                <a:tab pos="6411595" algn="l"/>
                <a:tab pos="7327265" algn="l"/>
                <a:tab pos="8243570" algn="l"/>
                <a:tab pos="9159240" algn="l"/>
                <a:tab pos="10075545" algn="l"/>
              </a:tabLst>
            </a:pPr>
            <a:r>
              <a:rPr lang="en-GB" sz="3600" b="0" strike="noStrike" spc="-1">
                <a:solidFill>
                  <a:srgbClr val="000000"/>
                </a:solidFill>
                <a:latin typeface="Arial" panose="020B0604020202020204"/>
              </a:rPr>
              <a:t>Section 2: Ethical issues text here (~180–200 words)</a:t>
            </a:r>
            <a:endParaRPr lang="en-US" sz="36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37" name="Rectangle 6"/>
          <p:cNvSpPr/>
          <p:nvPr/>
        </p:nvSpPr>
        <p:spPr>
          <a:xfrm>
            <a:off x="0" y="-58680"/>
            <a:ext cx="42808680" cy="3211560"/>
          </a:xfrm>
          <a:prstGeom prst="rect">
            <a:avLst/>
          </a:prstGeom>
          <a:solidFill>
            <a:srgbClr val="00668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>
            <a:noAutofit/>
          </a:bodyPr>
          <a:lstStyle/>
          <a:p>
            <a:pPr algn="ct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3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38" name="TextBox 26"/>
          <p:cNvSpPr/>
          <p:nvPr/>
        </p:nvSpPr>
        <p:spPr>
          <a:xfrm>
            <a:off x="955800" y="150840"/>
            <a:ext cx="31795920" cy="2024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t">
            <a:spAutoFit/>
          </a:bodyPr>
          <a:lstStyle/>
          <a:p>
            <a:pPr>
              <a:lnSpc>
                <a:spcPts val="76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6600" b="1" strike="noStrike" spc="-1">
                <a:solidFill>
                  <a:srgbClr val="FFFFFF"/>
                </a:solidFill>
                <a:latin typeface="Arial" panose="020B0604020202020204"/>
                <a:ea typeface="Arial" panose="020B0604020202020204"/>
              </a:rPr>
              <a:t>Computer Vision: Ethical, Legal and Social Impacts</a:t>
            </a:r>
            <a:endParaRPr lang="en-US" sz="66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39" name="Rectangle 6"/>
          <p:cNvSpPr/>
          <p:nvPr/>
        </p:nvSpPr>
        <p:spPr>
          <a:xfrm>
            <a:off x="992160" y="1250000"/>
            <a:ext cx="35269560" cy="140017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t">
            <a:spAutoFit/>
          </a:bodyPr>
          <a:lstStyle/>
          <a:p>
            <a:pPr>
              <a:lnSpc>
                <a:spcPts val="34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4000" b="1" strike="noStrike" spc="-1">
                <a:solidFill>
                  <a:srgbClr val="FFFFFF"/>
                </a:solidFill>
                <a:latin typeface="Arial" panose="020B0604020202020204"/>
                <a:ea typeface="Arial" panose="020B0604020202020204"/>
              </a:rPr>
              <a:t>Muhammad Asharib</a:t>
            </a:r>
            <a:endParaRPr lang="en-GB" sz="4000" b="1" strike="noStrike" spc="-1">
              <a:solidFill>
                <a:srgbClr val="FFFFFF"/>
              </a:solidFill>
              <a:latin typeface="Arial" panose="020B0604020202020204"/>
              <a:ea typeface="Arial" panose="020B0604020202020204"/>
            </a:endParaRPr>
          </a:p>
          <a:p>
            <a:pPr>
              <a:lnSpc>
                <a:spcPts val="34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GB" sz="4000" b="1" strike="noStrike" spc="-1">
              <a:solidFill>
                <a:srgbClr val="FFFFFF"/>
              </a:solidFill>
              <a:latin typeface="Arial" panose="020B0604020202020204"/>
              <a:ea typeface="Arial" panose="020B0604020202020204"/>
            </a:endParaRPr>
          </a:p>
          <a:p>
            <a:pPr>
              <a:lnSpc>
                <a:spcPts val="34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en-US" sz="4000" b="1" strike="noStrike" spc="-1">
                <a:solidFill>
                  <a:schemeClr val="bg1"/>
                </a:solidFill>
                <a:latin typeface="Arial" panose="020B0604020202020204"/>
              </a:rPr>
              <a:t>Student Number: 2023478</a:t>
            </a:r>
            <a:endParaRPr lang="en-GB" altLang="en-US" sz="4000" b="1" strike="noStrike" spc="-1">
              <a:solidFill>
                <a:schemeClr val="bg1"/>
              </a:solidFill>
              <a:latin typeface="Arial" panose="020B0604020202020204"/>
            </a:endParaRPr>
          </a:p>
        </p:txBody>
      </p:sp>
      <p:sp>
        <p:nvSpPr>
          <p:cNvPr id="40" name="Rectangle 20"/>
          <p:cNvSpPr/>
          <p:nvPr/>
        </p:nvSpPr>
        <p:spPr>
          <a:xfrm>
            <a:off x="974880" y="3211560"/>
            <a:ext cx="20000000" cy="52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t">
            <a:spAutoFit/>
          </a:bodyPr>
          <a:lstStyle/>
          <a:p>
            <a:pPr>
              <a:lnSpc>
                <a:spcPts val="34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2400" b="0" strike="noStrike" spc="-1">
                <a:solidFill>
                  <a:srgbClr val="000000"/>
                </a:solidFill>
                <a:latin typeface="Arial" panose="020B0604020202020204"/>
                <a:ea typeface="Arial" panose="020B0604020202020204"/>
              </a:rPr>
              <a:t>BSc (Hons) in Computing in IT, CCT College Dublin</a:t>
            </a:r>
            <a:endParaRPr lang="en-US" sz="2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pic>
        <p:nvPicPr>
          <p:cNvPr id="41" name="Picture 3" descr="A blue and black text&#10;&#10;Description automatically generated"/>
          <p:cNvPicPr/>
          <p:nvPr/>
        </p:nvPicPr>
        <p:blipFill>
          <a:blip r:embed="rId1"/>
          <a:stretch>
            <a:fillRect/>
          </a:stretch>
        </p:blipFill>
        <p:spPr>
          <a:xfrm>
            <a:off x="34945560" y="625320"/>
            <a:ext cx="6784920" cy="1789200"/>
          </a:xfrm>
          <a:prstGeom prst="rect">
            <a:avLst/>
          </a:prstGeom>
          <a:ln w="0">
            <a:noFill/>
          </a:ln>
        </p:spPr>
      </p:pic>
      <p:pic>
        <p:nvPicPr>
          <p:cNvPr id="96" name="Picture 95" descr="fig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98760" y="24000000"/>
            <a:ext cx="12660120" cy="4000000"/>
          </a:xfrm>
          <a:prstGeom prst="rect">
            <a:avLst/>
          </a:prstGeom>
        </p:spPr>
      </p:pic>
      <p:sp>
        <p:nvSpPr>
          <p:cNvPr id="26" name="Rectangle 8"/>
          <p:cNvSpPr/>
          <p:nvPr/>
        </p:nvSpPr>
        <p:spPr>
          <a:xfrm>
            <a:off x="15098760" y="24000000"/>
            <a:ext cx="12660120" cy="4000000"/>
          </a:xfrm>
          <a:prstGeom prst="rect">
            <a:avLst/>
          </a:prstGeom>
          <a:noFill/>
          <a:ln w="12600" cap="sq">
            <a:solidFill>
              <a:srgbClr val="00668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>
            <a:noAutofit/>
          </a:bodyPr>
          <a:lstStyle/>
          <a:p>
            <a:pPr algn="ct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3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97" name="Fig1 box 1"/>
          <p:cNvSpPr/>
          <p:nvPr/>
        </p:nvSpPr>
        <p:spPr>
          <a:xfrm>
            <a:off x="952560" y="21900000"/>
            <a:ext cx="2480000" cy="3900000"/>
          </a:xfrm>
          <a:prstGeom prst="roundRect">
            <a:avLst>
              <a:gd name="adj" fmla="val 12000"/>
            </a:avLst>
          </a:prstGeom>
          <a:solidFill>
            <a:srgbClr val="0066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0000" rIns="90000" bIns="200000" rtlCol="0" anchor="b"/>
          <a:lstStyle/>
          <a:p>
            <a:pPr algn="ctr"/>
            <a:r>
              <a:rPr sz="3600" b="1">
                <a:solidFill>
                  <a:srgbClr val="FFFFFF"/>
                </a:solidFill>
                <a:latin typeface="Arial" panose="020B0604020202020204"/>
              </a:rPr>
              <a:t>Camera</a:t>
            </a:r>
            <a:endParaRPr sz="3600" b="1">
              <a:solidFill>
                <a:srgbClr val="FFFFFF"/>
              </a:solidFill>
              <a:latin typeface="Arial" panose="020B0604020202020204"/>
            </a:endParaRPr>
          </a:p>
          <a:p>
            <a:pPr algn="ctr">
              <a:spcBef>
                <a:spcPts val="600"/>
              </a:spcBef>
            </a:pPr>
            <a:r>
              <a:rPr sz="2400">
                <a:solidFill>
                  <a:srgbClr val="DDEEF3"/>
                </a:solidFill>
                <a:latin typeface="Arial" panose="020B0604020202020204"/>
              </a:rPr>
              <a:t>captures the image</a:t>
            </a:r>
            <a:endParaRPr sz="2400">
              <a:solidFill>
                <a:srgbClr val="DDEEF3"/>
              </a:solidFill>
              <a:latin typeface="Arial" panose="020B0604020202020204"/>
            </a:endParaRPr>
          </a:p>
        </p:txBody>
      </p:sp>
      <p:pic>
        <p:nvPicPr>
          <p:cNvPr id="98" name="Fig1 icon 1" descr="camer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7560" y="22230000"/>
            <a:ext cx="1150000" cy="1150000"/>
          </a:xfrm>
          <a:prstGeom prst="rect">
            <a:avLst/>
          </a:prstGeom>
        </p:spPr>
      </p:pic>
      <p:sp>
        <p:nvSpPr>
          <p:cNvPr id="99" name="Fig1 arrow 1"/>
          <p:cNvSpPr/>
          <p:nvPr/>
        </p:nvSpPr>
        <p:spPr>
          <a:xfrm>
            <a:off x="3612560" y="23520000"/>
            <a:ext cx="620000" cy="660000"/>
          </a:xfrm>
          <a:prstGeom prst="rightArrow">
            <a:avLst/>
          </a:prstGeom>
          <a:solidFill>
            <a:srgbClr val="3FB6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Fig1 box 2"/>
          <p:cNvSpPr/>
          <p:nvPr/>
        </p:nvSpPr>
        <p:spPr>
          <a:xfrm>
            <a:off x="4412560" y="21900000"/>
            <a:ext cx="2480000" cy="3900000"/>
          </a:xfrm>
          <a:prstGeom prst="roundRect">
            <a:avLst>
              <a:gd name="adj" fmla="val 12000"/>
            </a:avLst>
          </a:prstGeom>
          <a:solidFill>
            <a:srgbClr val="0066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0000" rIns="90000" bIns="200000" rtlCol="0" anchor="b"/>
          <a:lstStyle/>
          <a:p>
            <a:pPr algn="ctr"/>
            <a:r>
              <a:rPr sz="3600" b="1">
                <a:solidFill>
                  <a:srgbClr val="FFFFFF"/>
                </a:solidFill>
                <a:latin typeface="Arial" panose="020B0604020202020204"/>
              </a:rPr>
              <a:t>Pixels</a:t>
            </a:r>
            <a:endParaRPr sz="3600" b="1">
              <a:solidFill>
                <a:srgbClr val="FFFFFF"/>
              </a:solidFill>
              <a:latin typeface="Arial" panose="020B0604020202020204"/>
            </a:endParaRPr>
          </a:p>
          <a:p>
            <a:pPr algn="ctr">
              <a:spcBef>
                <a:spcPts val="600"/>
              </a:spcBef>
            </a:pPr>
            <a:r>
              <a:rPr sz="2400">
                <a:solidFill>
                  <a:srgbClr val="DDEEF3"/>
                </a:solidFill>
                <a:latin typeface="Arial" panose="020B0604020202020204"/>
              </a:rPr>
              <a:t>image as numbers</a:t>
            </a:r>
            <a:endParaRPr sz="2400">
              <a:solidFill>
                <a:srgbClr val="DDEEF3"/>
              </a:solidFill>
              <a:latin typeface="Arial" panose="020B0604020202020204"/>
            </a:endParaRPr>
          </a:p>
        </p:txBody>
      </p:sp>
      <p:pic>
        <p:nvPicPr>
          <p:cNvPr id="101" name="Fig1 icon 2" descr="pixel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7560" y="22230000"/>
            <a:ext cx="1150000" cy="1150000"/>
          </a:xfrm>
          <a:prstGeom prst="rect">
            <a:avLst/>
          </a:prstGeom>
        </p:spPr>
      </p:pic>
      <p:sp>
        <p:nvSpPr>
          <p:cNvPr id="102" name="Fig1 arrow 2"/>
          <p:cNvSpPr/>
          <p:nvPr/>
        </p:nvSpPr>
        <p:spPr>
          <a:xfrm>
            <a:off x="7072560" y="23520000"/>
            <a:ext cx="620000" cy="660000"/>
          </a:xfrm>
          <a:prstGeom prst="rightArrow">
            <a:avLst/>
          </a:prstGeom>
          <a:solidFill>
            <a:srgbClr val="3FB6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Fig1 box 3"/>
          <p:cNvSpPr/>
          <p:nvPr/>
        </p:nvSpPr>
        <p:spPr>
          <a:xfrm>
            <a:off x="7872560" y="21900000"/>
            <a:ext cx="2480000" cy="3900000"/>
          </a:xfrm>
          <a:prstGeom prst="roundRect">
            <a:avLst>
              <a:gd name="adj" fmla="val 12000"/>
            </a:avLst>
          </a:prstGeom>
          <a:solidFill>
            <a:srgbClr val="0066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0000" rIns="90000" bIns="200000" rtlCol="0" anchor="b"/>
          <a:lstStyle/>
          <a:p>
            <a:pPr algn="ctr"/>
            <a:r>
              <a:rPr sz="3600" b="1">
                <a:solidFill>
                  <a:srgbClr val="FFFFFF"/>
                </a:solidFill>
                <a:latin typeface="Arial" panose="020B0604020202020204"/>
              </a:rPr>
              <a:t>CNN</a:t>
            </a:r>
            <a:endParaRPr sz="3600" b="1">
              <a:solidFill>
                <a:srgbClr val="FFFFFF"/>
              </a:solidFill>
              <a:latin typeface="Arial" panose="020B0604020202020204"/>
            </a:endParaRPr>
          </a:p>
          <a:p>
            <a:pPr algn="ctr">
              <a:spcBef>
                <a:spcPts val="600"/>
              </a:spcBef>
            </a:pPr>
            <a:r>
              <a:rPr sz="2400">
                <a:solidFill>
                  <a:srgbClr val="DDEEF3"/>
                </a:solidFill>
                <a:latin typeface="Arial" panose="020B0604020202020204"/>
              </a:rPr>
              <a:t>AI model finds patterns</a:t>
            </a:r>
            <a:endParaRPr sz="2400">
              <a:solidFill>
                <a:srgbClr val="DDEEF3"/>
              </a:solidFill>
              <a:latin typeface="Arial" panose="020B0604020202020204"/>
            </a:endParaRPr>
          </a:p>
        </p:txBody>
      </p:sp>
      <p:pic>
        <p:nvPicPr>
          <p:cNvPr id="104" name="Fig1 icon 3" descr="cn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37560" y="22230000"/>
            <a:ext cx="1150000" cy="1150000"/>
          </a:xfrm>
          <a:prstGeom prst="rect">
            <a:avLst/>
          </a:prstGeom>
        </p:spPr>
      </p:pic>
      <p:sp>
        <p:nvSpPr>
          <p:cNvPr id="105" name="Fig1 arrow 3"/>
          <p:cNvSpPr/>
          <p:nvPr/>
        </p:nvSpPr>
        <p:spPr>
          <a:xfrm>
            <a:off x="10532560" y="23520000"/>
            <a:ext cx="620000" cy="660000"/>
          </a:xfrm>
          <a:prstGeom prst="rightArrow">
            <a:avLst/>
          </a:prstGeom>
          <a:solidFill>
            <a:srgbClr val="3FB6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Fig1 box 4"/>
          <p:cNvSpPr/>
          <p:nvPr/>
        </p:nvSpPr>
        <p:spPr>
          <a:xfrm>
            <a:off x="11332560" y="21900000"/>
            <a:ext cx="2480000" cy="3900000"/>
          </a:xfrm>
          <a:prstGeom prst="roundRect">
            <a:avLst>
              <a:gd name="adj" fmla="val 12000"/>
            </a:avLst>
          </a:prstGeom>
          <a:solidFill>
            <a:srgbClr val="0066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0000" rIns="90000" bIns="200000" rtlCol="0" anchor="b"/>
          <a:lstStyle/>
          <a:p>
            <a:pPr algn="ctr"/>
            <a:r>
              <a:rPr sz="3600" b="1">
                <a:solidFill>
                  <a:srgbClr val="FFFFFF"/>
                </a:solidFill>
                <a:latin typeface="Arial" panose="020B0604020202020204"/>
              </a:rPr>
              <a:t>Result</a:t>
            </a:r>
            <a:endParaRPr sz="3600" b="1">
              <a:solidFill>
                <a:srgbClr val="FFFFFF"/>
              </a:solidFill>
              <a:latin typeface="Arial" panose="020B0604020202020204"/>
            </a:endParaRPr>
          </a:p>
          <a:p>
            <a:pPr algn="ctr">
              <a:spcBef>
                <a:spcPts val="600"/>
              </a:spcBef>
            </a:pPr>
            <a:r>
              <a:rPr sz="2400">
                <a:solidFill>
                  <a:srgbClr val="DDEEF3"/>
                </a:solidFill>
                <a:latin typeface="Arial" panose="020B0604020202020204"/>
              </a:rPr>
              <a:t>e.g. face recognised</a:t>
            </a:r>
            <a:endParaRPr sz="2400">
              <a:solidFill>
                <a:srgbClr val="DDEEF3"/>
              </a:solidFill>
              <a:latin typeface="Arial" panose="020B0604020202020204"/>
            </a:endParaRPr>
          </a:p>
        </p:txBody>
      </p:sp>
      <p:pic>
        <p:nvPicPr>
          <p:cNvPr id="107" name="Fig1 icon 4" descr="resul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997560" y="22230000"/>
            <a:ext cx="1150000" cy="1150000"/>
          </a:xfrm>
          <a:prstGeom prst="rect">
            <a:avLst/>
          </a:prstGeom>
        </p:spPr>
      </p:pic>
      <p:sp>
        <p:nvSpPr>
          <p:cNvPr id="108" name="Rectangle 20"/>
          <p:cNvSpPr/>
          <p:nvPr/>
        </p:nvSpPr>
        <p:spPr>
          <a:xfrm>
            <a:off x="952560" y="25950000"/>
            <a:ext cx="12787200" cy="52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t">
            <a:spAutoFit/>
          </a:bodyPr>
          <a:lstStyle/>
          <a:p>
            <a:pPr>
              <a:lnSpc>
                <a:spcPts val="34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2400" b="1" strike="noStrike" spc="-1">
                <a:solidFill>
                  <a:srgbClr val="000000"/>
                </a:solidFill>
                <a:latin typeface="Arial" panose="020B0604020202020204"/>
                <a:ea typeface="Arial" panose="020B0604020202020204"/>
              </a:rPr>
              <a:t>Fig. 1</a:t>
            </a:r>
            <a:r>
              <a:rPr lang="en-GB" sz="2400" b="0" strike="noStrike" spc="-1">
                <a:solidFill>
                  <a:srgbClr val="000000"/>
                </a:solidFill>
                <a:latin typeface="Arial" panose="020B0604020202020204"/>
                <a:ea typeface="Arial" panose="020B0604020202020204"/>
              </a:rPr>
              <a:t> How computer vision works (own diagram)</a:t>
            </a:r>
            <a:endParaRPr lang="en-US" sz="2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2413</Words>
  <Application>WPS Presentation</Application>
  <PresentationFormat>Custom</PresentationFormat>
  <Paragraphs>57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2" baseType="lpstr">
      <vt:lpstr>Arial</vt:lpstr>
      <vt:lpstr>SimSun</vt:lpstr>
      <vt:lpstr>Wingdings</vt:lpstr>
      <vt:lpstr>Times New Roman</vt:lpstr>
      <vt:lpstr>Arial</vt:lpstr>
      <vt:lpstr>Calibri</vt:lpstr>
      <vt:lpstr>Microsoft YaHei</vt:lpstr>
      <vt:lpstr>Arial Unicode MS</vt:lpstr>
      <vt:lpstr>DejaVu Sans</vt:lpstr>
      <vt:lpstr>Calibri</vt:lpstr>
      <vt:lpstr>Office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Yusra</dc:creator>
  <cp:lastModifiedBy>User</cp:lastModifiedBy>
  <cp:revision>4</cp:revision>
  <dcterms:created xsi:type="dcterms:W3CDTF">2026-10-20T13:31:55Z</dcterms:created>
  <dcterms:modified xsi:type="dcterms:W3CDTF">2026-10-20T13:35:07Z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3F8E2978A3D0478DBEC73DAAC0D651EB_13</vt:lpwstr>
  </property>
  <property fmtid="{D5CDD505-2E9C-101B-9397-08002B2CF9AE}" pid="3" name="KSOProductBuildVer">
    <vt:lpwstr>2057-12.2.0.23206</vt:lpwstr>
  </property>
</Properties>
</file>