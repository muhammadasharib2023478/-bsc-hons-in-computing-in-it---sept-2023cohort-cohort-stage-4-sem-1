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42806938" cy="30279975"/>
  <p:notesSz cx="6767513" cy="990758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768000" cy="9907200"/>
          </a:xfrm>
          <a:prstGeom prst="rect">
            <a:avLst/>
          </a:prstGeom>
          <a:solidFill>
            <a:srgbClr val="ffffff"/>
          </a:solidFill>
          <a:ln w="0">
            <a:noFill/>
          </a:ln>
        </p:spPr>
        <p:txBody>
          <a:bodyPr lIns="90000" rIns="90000" tIns="45000" bIns="45000" anchor="ctr" anchorCtr="1">
            <a:noAutofit/>
          </a:bodyPr>
          <a:p>
            <a:endParaRPr b="0" lang="en-US" sz="2300" spc="-1" strike="noStrike">
              <a:solidFill>
                <a:srgbClr val="000000"/>
              </a:solidFill>
              <a:latin typeface="Arial"/>
            </a:endParaRPr>
          </a:p>
        </p:txBody>
      </p:sp>
      <p:sp>
        <p:nvSpPr>
          <p:cNvPr id="6" name="PlaceHolder 1"/>
          <p:cNvSpPr>
            <a:spLocks noGrp="1"/>
          </p:cNvSpPr>
          <p:nvPr>
            <p:ph type="hdr"/>
          </p:nvPr>
        </p:nvSpPr>
        <p:spPr>
          <a:xfrm>
            <a:off x="-360" y="0"/>
            <a:ext cx="2933640" cy="4953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7" name="PlaceHolder 2"/>
          <p:cNvSpPr>
            <a:spLocks noGrp="1"/>
          </p:cNvSpPr>
          <p:nvPr>
            <p:ph type="dt" idx="4"/>
          </p:nvPr>
        </p:nvSpPr>
        <p:spPr>
          <a:xfrm>
            <a:off x="3833640" y="0"/>
            <a:ext cx="2934000" cy="49536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&lt;date/time&gt;</a:t>
            </a:r>
            <a:endParaRPr b="0" lang="en-US" sz="1200" spc="-1" strike="noStrike">
              <a:solidFill>
                <a:srgbClr val="000000"/>
              </a:solidFill>
              <a:latin typeface="Arial"/>
            </a:endParaRPr>
          </a:p>
        </p:txBody>
      </p:sp>
      <p:sp>
        <p:nvSpPr>
          <p:cNvPr id="8" name="PlaceHolder 3"/>
          <p:cNvSpPr>
            <a:spLocks noGrp="1"/>
          </p:cNvSpPr>
          <p:nvPr>
            <p:ph type="sldImg"/>
          </p:nvPr>
        </p:nvSpPr>
        <p:spPr>
          <a:xfrm>
            <a:off x="758520" y="742680"/>
            <a:ext cx="5251320" cy="3714840"/>
          </a:xfrm>
          <a:prstGeom prst="rect">
            <a:avLst/>
          </a:prstGeom>
          <a:noFill/>
          <a:ln w="12600">
            <a:solidFill>
              <a:srgbClr val="000000"/>
            </a:solidFill>
            <a:miter/>
          </a:ln>
        </p:spPr>
        <p:txBody>
          <a:bodyPr lIns="90000" rIns="90000" tIns="46800" bIns="4680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move the slide</a:t>
            </a:r>
            <a:endParaRPr b="0" lang="en-US" sz="21600" spc="-1" strike="noStrike">
              <a:solidFill>
                <a:srgbClr val="000000"/>
              </a:solidFill>
              <a:latin typeface="Times New Roman"/>
            </a:endParaRPr>
          </a:p>
        </p:txBody>
      </p:sp>
      <p:sp>
        <p:nvSpPr>
          <p:cNvPr id="9" name="PlaceHolder 4"/>
          <p:cNvSpPr>
            <a:spLocks noGrp="1"/>
          </p:cNvSpPr>
          <p:nvPr>
            <p:ph type="body"/>
          </p:nvPr>
        </p:nvSpPr>
        <p:spPr>
          <a:xfrm>
            <a:off x="676440" y="4704840"/>
            <a:ext cx="5416560" cy="445788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10" name="PlaceHolder 5"/>
          <p:cNvSpPr>
            <a:spLocks noGrp="1"/>
          </p:cNvSpPr>
          <p:nvPr>
            <p:ph type="ftr" idx="5"/>
          </p:nvPr>
        </p:nvSpPr>
        <p:spPr>
          <a:xfrm>
            <a:off x="-360" y="9408960"/>
            <a:ext cx="2933640" cy="495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11" name="PlaceHolder 6"/>
          <p:cNvSpPr>
            <a:spLocks noGrp="1"/>
          </p:cNvSpPr>
          <p:nvPr>
            <p:ph type="sldNum" idx="6"/>
          </p:nvPr>
        </p:nvSpPr>
        <p:spPr>
          <a:xfrm>
            <a:off x="3833640" y="9408960"/>
            <a:ext cx="2934000" cy="4953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3BEFC5-4218-4112-A2AA-8E9CAB37C2B2}"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sldImg"/>
          </p:nvPr>
        </p:nvSpPr>
        <p:spPr>
          <a:xfrm>
            <a:off x="758880" y="743040"/>
            <a:ext cx="5251320" cy="3714840"/>
          </a:xfrm>
          <a:prstGeom prst="rect">
            <a:avLst/>
          </a:prstGeom>
          <a:ln w="0">
            <a:noFill/>
          </a:ln>
        </p:spPr>
      </p:sp>
      <p:sp>
        <p:nvSpPr>
          <p:cNvPr id="43" name="PlaceHolder 2"/>
          <p:cNvSpPr>
            <a:spLocks noGrp="1"/>
          </p:cNvSpPr>
          <p:nvPr>
            <p:ph type="body"/>
          </p:nvPr>
        </p:nvSpPr>
        <p:spPr>
          <a:xfrm>
            <a:off x="676440" y="4704840"/>
            <a:ext cx="5416560" cy="44578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pc="-1" strike="noStrike">
              <a:solidFill>
                <a:srgbClr val="000000"/>
              </a:solidFill>
              <a:latin typeface="Calibri"/>
            </a:endParaRPr>
          </a:p>
        </p:txBody>
      </p:sp>
      <p:sp>
        <p:nvSpPr>
          <p:cNvPr id="44" name="Slide Number Placeholder 3"/>
          <p:cNvSpPr/>
          <p:nvPr/>
        </p:nvSpPr>
        <p:spPr>
          <a:xfrm>
            <a:off x="3833640" y="9408960"/>
            <a:ext cx="2934000" cy="4953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00F7DE-E8BF-4559-B736-F96F5746DFBF}"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7EA521D-9CB4-4F5A-A8FF-91A68931216D}"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209760" y="2690280"/>
            <a:ext cx="36388800" cy="5046840"/>
          </a:xfrm>
          <a:prstGeom prst="rect">
            <a:avLst/>
          </a:prstGeom>
          <a:noFill/>
          <a:ln w="0">
            <a:noFill/>
          </a:ln>
        </p:spPr>
        <p:txBody>
          <a:bodyPr lIns="449280" rIns="449280" tIns="224640" bIns="22464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edit the title text format</a:t>
            </a:r>
            <a:endParaRPr b="0" lang="en-US" sz="21600" spc="-1" strike="noStrike">
              <a:solidFill>
                <a:srgbClr val="000000"/>
              </a:solidFill>
              <a:latin typeface="Times New Roman"/>
            </a:endParaRPr>
          </a:p>
        </p:txBody>
      </p:sp>
      <p:sp>
        <p:nvSpPr>
          <p:cNvPr id="1" name="PlaceHolder 2"/>
          <p:cNvSpPr>
            <a:spLocks noGrp="1"/>
          </p:cNvSpPr>
          <p:nvPr>
            <p:ph type="body"/>
          </p:nvPr>
        </p:nvSpPr>
        <p:spPr>
          <a:xfrm>
            <a:off x="3209760" y="8746920"/>
            <a:ext cx="36388800" cy="18168840"/>
          </a:xfrm>
          <a:prstGeom prst="rect">
            <a:avLst/>
          </a:prstGeom>
          <a:noFill/>
          <a:ln w="0">
            <a:noFill/>
          </a:ln>
        </p:spPr>
        <p:txBody>
          <a:bodyPr lIns="449280" rIns="449280" tIns="224640" bIns="224640" anchor="t">
            <a:normAutofit fontScale="88968"/>
          </a:bodyPr>
          <a:p>
            <a:pPr marL="1682640" indent="-16826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Click to edit the outline text format</a:t>
            </a:r>
            <a:endParaRPr b="0" lang="en-US" sz="15500" spc="-1" strike="noStrike">
              <a:solidFill>
                <a:srgbClr val="000000"/>
              </a:solidFill>
              <a:latin typeface="Times New Roman"/>
            </a:endParaRPr>
          </a:p>
          <a:p>
            <a:pPr lvl="1" marL="3649680" indent="-14000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Second Outline Level</a:t>
            </a:r>
            <a:endParaRPr b="0" lang="en-US" sz="15500" spc="-1" strike="noStrike">
              <a:solidFill>
                <a:srgbClr val="000000"/>
              </a:solidFill>
              <a:latin typeface="Times New Roman"/>
            </a:endParaRPr>
          </a:p>
          <a:p>
            <a:pPr lvl="2" marL="5614920" indent="-11239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Third Outline Level</a:t>
            </a:r>
            <a:endParaRPr b="0" lang="en-US" sz="15500" spc="-1" strike="noStrike">
              <a:solidFill>
                <a:srgbClr val="000000"/>
              </a:solidFill>
              <a:latin typeface="Times New Roman"/>
            </a:endParaRPr>
          </a:p>
          <a:p>
            <a:pPr lvl="3" marL="7864560" indent="-11257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Fourth Outline Level</a:t>
            </a:r>
            <a:endParaRPr b="0" lang="en-US" sz="15500" spc="-1" strike="noStrike">
              <a:solidFill>
                <a:srgbClr val="000000"/>
              </a:solidFill>
              <a:latin typeface="Times New Roman"/>
            </a:endParaRPr>
          </a:p>
          <a:p>
            <a:pPr lvl="4"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Fifth Outline Level</a:t>
            </a:r>
            <a:endParaRPr b="0" lang="en-US" sz="15500" spc="-1" strike="noStrike">
              <a:solidFill>
                <a:srgbClr val="000000"/>
              </a:solidFill>
              <a:latin typeface="Times New Roman"/>
            </a:endParaRPr>
          </a:p>
          <a:p>
            <a:pPr lvl="5"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Sixth Outline Level</a:t>
            </a:r>
            <a:endParaRPr b="0" lang="en-US" sz="15500" spc="-1" strike="noStrike">
              <a:solidFill>
                <a:srgbClr val="000000"/>
              </a:solidFill>
              <a:latin typeface="Times New Roman"/>
            </a:endParaRPr>
          </a:p>
          <a:p>
            <a:pPr lvl="6"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Seventh Outline Level</a:t>
            </a:r>
            <a:endParaRPr b="0" lang="en-US" sz="15500" spc="-1" strike="noStrike">
              <a:solidFill>
                <a:srgbClr val="000000"/>
              </a:solidFill>
              <a:latin typeface="Times New Roman"/>
            </a:endParaRPr>
          </a:p>
        </p:txBody>
      </p:sp>
      <p:sp>
        <p:nvSpPr>
          <p:cNvPr id="2" name="PlaceHolder 3"/>
          <p:cNvSpPr>
            <a:spLocks noGrp="1"/>
          </p:cNvSpPr>
          <p:nvPr>
            <p:ph type="dt" idx="1"/>
          </p:nvPr>
        </p:nvSpPr>
        <p:spPr>
          <a:xfrm>
            <a:off x="3209760" y="27589320"/>
            <a:ext cx="89186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 name="PlaceHolder 4"/>
          <p:cNvSpPr>
            <a:spLocks noGrp="1"/>
          </p:cNvSpPr>
          <p:nvPr>
            <p:ph type="ftr" idx="2"/>
          </p:nvPr>
        </p:nvSpPr>
        <p:spPr>
          <a:xfrm>
            <a:off x="14625360" y="27589320"/>
            <a:ext cx="135572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4" name="PlaceHolder 5"/>
          <p:cNvSpPr>
            <a:spLocks noGrp="1"/>
          </p:cNvSpPr>
          <p:nvPr>
            <p:ph type="sldNum" idx="3"/>
          </p:nvPr>
        </p:nvSpPr>
        <p:spPr>
          <a:xfrm>
            <a:off x="30679920" y="27589320"/>
            <a:ext cx="8918640" cy="2017440"/>
          </a:xfrm>
          <a:prstGeom prst="rect">
            <a:avLst/>
          </a:prstGeom>
          <a:noFill/>
          <a:ln w="0">
            <a:noFill/>
          </a:ln>
        </p:spPr>
        <p:txBody>
          <a:bodyPr lIns="449280" rIns="449280" tIns="224640" bIns="22464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7000" spc="-1" strike="noStrike">
                <a:solidFill>
                  <a:srgbClr val="000000"/>
                </a:solidFill>
                <a:latin typeface="Times New Roman"/>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8118B2-BF46-4752-9CBD-F30A83D594C5}" type="slidenum">
              <a:rPr b="0" lang="en-GB" sz="7000" spc="-1" strike="noStrike">
                <a:solidFill>
                  <a:srgbClr val="000000"/>
                </a:solidFill>
                <a:latin typeface="Times New Roman"/>
              </a:rPr>
              <a:t>&lt;number&gt;</a:t>
            </a:fld>
            <a:endParaRPr b="0" lang="en-US" sz="7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Text Box 81"/>
          <p:cNvSpPr/>
          <p:nvPr/>
        </p:nvSpPr>
        <p:spPr>
          <a:xfrm>
            <a:off x="0" y="29298960"/>
            <a:ext cx="42808680" cy="993600"/>
          </a:xfrm>
          <a:prstGeom prst="rect">
            <a:avLst/>
          </a:prstGeom>
          <a:solidFill>
            <a:srgbClr val="006684"/>
          </a:solidFill>
          <a:ln w="0">
            <a:noFill/>
          </a:ln>
        </p:spPr>
        <p:style>
          <a:lnRef idx="0"/>
          <a:fillRef idx="0"/>
          <a:effectRef idx="0"/>
          <a:fontRef idx="minor"/>
        </p:style>
        <p:txBody>
          <a:bodyPr lIns="90000" rIns="90000" tIns="46800" bIns="46800" anchor="ctr" anchorCtr="1">
            <a:noAutofit/>
          </a:bodyPr>
          <a:p>
            <a:pPr>
              <a:spcBef>
                <a:spcPts val="3376"/>
              </a:spcBef>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endParaRPr b="0" lang="en-US" sz="2300" spc="-1" strike="noStrike">
              <a:solidFill>
                <a:srgbClr val="000000"/>
              </a:solidFill>
              <a:latin typeface="Arial"/>
            </a:endParaRPr>
          </a:p>
        </p:txBody>
      </p:sp>
      <p:sp>
        <p:nvSpPr>
          <p:cNvPr id="13" name="Rectangle 9"/>
          <p:cNvSpPr/>
          <p:nvPr/>
        </p:nvSpPr>
        <p:spPr>
          <a:xfrm>
            <a:off x="1008000" y="29335320"/>
            <a:ext cx="30830760" cy="916920"/>
          </a:xfrm>
          <a:prstGeom prst="rect">
            <a:avLst/>
          </a:prstGeom>
          <a:noFill/>
          <a:ln w="0">
            <a:noFill/>
          </a:ln>
        </p:spPr>
        <p:style>
          <a:lnRef idx="0"/>
          <a:fillRef idx="0"/>
          <a:effectRef idx="0"/>
          <a:fontRef idx="minor"/>
        </p:style>
        <p:txBody>
          <a:bodyPr lIns="90000" rIns="90000" tIns="46800" bIns="46800" anchor="t">
            <a:spAutoFit/>
          </a:bodyPr>
          <a:p>
            <a:pP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Our Dedication.Your Journey.</a:t>
            </a:r>
            <a:endParaRPr b="0" lang="en-US" sz="5400" spc="-1" strike="noStrike">
              <a:solidFill>
                <a:srgbClr val="000000"/>
              </a:solidFill>
              <a:latin typeface="Arial"/>
            </a:endParaRPr>
          </a:p>
        </p:txBody>
      </p:sp>
      <p:sp>
        <p:nvSpPr>
          <p:cNvPr id="14" name="Rectangle 5"/>
          <p:cNvSpPr/>
          <p:nvPr/>
        </p:nvSpPr>
        <p:spPr>
          <a:xfrm>
            <a:off x="31964400" y="29322720"/>
            <a:ext cx="9853560" cy="916920"/>
          </a:xfrm>
          <a:prstGeom prst="rect">
            <a:avLst/>
          </a:prstGeom>
          <a:noFill/>
          <a:ln w="0">
            <a:noFill/>
          </a:ln>
        </p:spPr>
        <p:style>
          <a:lnRef idx="0"/>
          <a:fillRef idx="0"/>
          <a:effectRef idx="0"/>
          <a:fontRef idx="minor"/>
        </p:style>
        <p:txBody>
          <a:bodyPr lIns="90000" rIns="90000" tIns="46800" bIns="46800" anchor="t">
            <a:spAutoFit/>
          </a:bodyPr>
          <a:p>
            <a:pPr algn="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www.cct.ie</a:t>
            </a:r>
            <a:endParaRPr b="0" lang="en-US" sz="5400" spc="-1" strike="noStrike">
              <a:solidFill>
                <a:srgbClr val="000000"/>
              </a:solidFill>
              <a:latin typeface="Arial"/>
            </a:endParaRPr>
          </a:p>
        </p:txBody>
      </p:sp>
      <p:grpSp>
        <p:nvGrpSpPr>
          <p:cNvPr id="18" name="Group 25"/>
          <p:cNvGrpSpPr/>
          <p:nvPr/>
        </p:nvGrpSpPr>
        <p:grpSpPr>
          <a:xfrm>
            <a:off x="920880" y="4964040"/>
            <a:ext cx="12885480" cy="1099800"/>
            <a:chOff x="920880" y="4964040"/>
            <a:chExt cx="12885480" cy="1099800"/>
          </a:xfrm>
        </p:grpSpPr>
        <p:sp>
          <p:nvSpPr>
            <p:cNvPr id="19" name="Rectangle 241"/>
            <p:cNvSpPr/>
            <p:nvPr/>
          </p:nvSpPr>
          <p:spPr>
            <a:xfrm>
              <a:off x="920880" y="496404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What is Computer Vision?</a:t>
              </a:r>
              <a:endParaRPr b="0" lang="en-US" sz="6600" spc="-1" strike="noStrike">
                <a:solidFill>
                  <a:srgbClr val="000000"/>
                </a:solidFill>
                <a:latin typeface="Arial"/>
              </a:endParaRPr>
            </a:p>
          </p:txBody>
        </p:sp>
        <p:sp>
          <p:nvSpPr>
            <p:cNvPr id="20" name="Straight Connector 6"/>
            <p:cNvSpPr/>
            <p:nvPr/>
          </p:nvSpPr>
          <p:spPr>
            <a:xfrm>
              <a:off x="1060560" y="5107680"/>
              <a:ext cx="127458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21" name="Rectangle 24"/>
          <p:cNvSpPr/>
          <p:nvPr/>
        </p:nvSpPr>
        <p:spPr>
          <a:xfrm>
            <a:off x="95256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is a branch of artificial intelligence that enables machines to interpret and understand images and videos (Szeliski, 2022). To a computer, an image is a grid of tiny squares called pixels, each storing a number that represents its colour or brightness. A camera first captures the scene; an AI model, typically a Convolutional Neural Network (CNN), then identifies patterns such as edges, shapes and objects, and finally produces a meaningful output, such as recognising a face (Szeliski, 2022).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The field emerged at MIT in the 1960s, when researchers first attempted to teach computers to perceive three-dimensional objects (Roberts, 1963). In the 1990s, CNNs learned to read handwritten digits (LeCun et al., 1998), and in 2012 deep learning dramatically improved object recognition (Krizhevsky, Sutskever and Hinton, 2012).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Key applications include:</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Facial recognition and smartphone unlocking</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Self-driving cars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Intelligent security cameras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Medical imaging and skin-cancer detection (Esteva et al., 2017)</a:t>
            </a:r>
            <a:endParaRPr b="0" lang="en-GB" sz="3600" spc="-1" strike="noStrike">
              <a:solidFill>
                <a:srgbClr val="000000"/>
              </a:solidFill>
              <a:latin typeface="Arial"/>
            </a:endParaRPr>
          </a:p>
        </p:txBody>
      </p:sp>
      <p:sp>
        <p:nvSpPr>
          <p:cNvPr id="23" name="Rectangle 20"/>
          <p:cNvSpPr/>
          <p:nvPr/>
        </p:nvSpPr>
        <p:spPr>
          <a:xfrm>
            <a:off x="28943280" y="14419440"/>
            <a:ext cx="12787200" cy="461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4" name="Rectangle 20"/>
          <p:cNvSpPr/>
          <p:nvPr/>
        </p:nvSpPr>
        <p:spPr>
          <a:xfrm>
            <a:off x="15017760" y="281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2</a:t>
            </a:r>
            <a:r>
              <a:rPr b="0" lang="en-GB" sz="2400" spc="-1" strike="noStrike">
                <a:solidFill>
                  <a:srgbClr val="000000"/>
                </a:solidFill>
                <a:latin typeface="Arial"/>
                <a:ea typeface="Arial"/>
              </a:rPr>
              <a:t> Facial recognition matching a face to an identity database (own illustration)</a:t>
            </a:r>
            <a:endParaRPr b="0" lang="en-US" sz="2400" spc="-1" strike="noStrike">
              <a:solidFill>
                <a:srgbClr val="000000"/>
              </a:solidFill>
              <a:latin typeface="Arial"/>
            </a:endParaRPr>
          </a:p>
        </p:txBody>
      </p:sp>
      <p:sp>
        <p:nvSpPr>
          <p:cNvPr id="25" name="Rectangle 30"/>
          <p:cNvSpPr/>
          <p:nvPr/>
        </p:nvSpPr>
        <p:spPr>
          <a:xfrm>
            <a:off x="15109920" y="24000000"/>
            <a:ext cx="517320" cy="6462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7" name="Rectangle 102"/>
          <p:cNvSpPr/>
          <p:nvPr/>
        </p:nvSpPr>
        <p:spPr>
          <a:xfrm>
            <a:off x="15109920" y="26000000"/>
            <a:ext cx="517320" cy="6476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8" name="Rectangle 106"/>
          <p:cNvSpPr/>
          <p:nvPr/>
        </p:nvSpPr>
        <p:spPr>
          <a:xfrm>
            <a:off x="28943280" y="622152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In January 2020, Detroit police arrested Robert Williams, a Black man, at his home in front of his family (Hill, 2020). A facial recognition system had wrongly matched his driving licence photo to CCTV footage of a shoplifting incident, and he was detained overnight for a crime he did not commit.</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This case illustrates the bias Buolamwini and Gebru (2018) had already warned about. Officers trusted the algorithm without proper human verification, harming an innocent family. In 2024, Detroit agreed to pay $300,000 and banned arrests based solely on facial recognition results (White, 2024). This demonstrates that technology must not replace human judgement.</a:t>
            </a:r>
            <a:endParaRPr b="0" lang="en-GB" sz="3600" spc="-1" strike="noStrike">
              <a:solidFill>
                <a:srgbClr val="000000"/>
              </a:solidFill>
              <a:latin typeface="Arial"/>
            </a:endParaRPr>
          </a:p>
        </p:txBody>
      </p:sp>
      <p:sp>
        <p:nvSpPr>
          <p:cNvPr id="95" name="Rectangle 106"/>
          <p:cNvSpPr/>
          <p:nvPr/>
        </p:nvSpPr>
        <p:spPr>
          <a:xfrm>
            <a:off x="28943280" y="1549956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The Williams case shows that computer vision should support, not replace, human decisions. First, police should treat facial recognition matches only as leads requiring officer verification (White, 2024). Second, developers must test systems on diverse datasets to reduce bias (Buolamwini and Gebru, 2018). Third, regulation such as the EU AI Act, backed by independent audits, can limit misuse (European Union, 2024). Finally, greater transparency would build public trust, increasing benefits in healthcare and accessibility.</a:t>
            </a:r>
            <a:endParaRPr b="0" lang="en-GB" sz="3600" spc="-1" strike="noStrike">
              <a:solidFill>
                <a:srgbClr val="000000"/>
              </a:solidFill>
              <a:latin typeface="Arial"/>
            </a:endParaRPr>
          </a:p>
        </p:txBody>
      </p:sp>
      <p:grpSp>
        <p:nvGrpSpPr>
          <p:cNvPr id="29" name="Group 107"/>
          <p:cNvGrpSpPr/>
          <p:nvPr/>
        </p:nvGrpSpPr>
        <p:grpSpPr>
          <a:xfrm>
            <a:off x="15016320" y="4975200"/>
            <a:ext cx="12885480" cy="1099800"/>
            <a:chOff x="15016320" y="4975200"/>
            <a:chExt cx="12885480" cy="1099800"/>
          </a:xfrm>
        </p:grpSpPr>
        <p:sp>
          <p:nvSpPr>
            <p:cNvPr id="30" name="Rectangle 249"/>
            <p:cNvSpPr/>
            <p:nvPr/>
          </p:nvSpPr>
          <p:spPr>
            <a:xfrm>
              <a:off x="15016320" y="49752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Ethical, Legal &amp; Social Impact</a:t>
              </a:r>
              <a:endParaRPr b="0" lang="en-US" sz="6600" spc="-1" strike="noStrike">
                <a:solidFill>
                  <a:srgbClr val="000000"/>
                </a:solidFill>
                <a:latin typeface="Arial"/>
              </a:endParaRPr>
            </a:p>
          </p:txBody>
        </p:sp>
        <p:sp>
          <p:nvSpPr>
            <p:cNvPr id="31" name="Straight Connector 6"/>
            <p:cNvSpPr/>
            <p:nvPr/>
          </p:nvSpPr>
          <p:spPr>
            <a:xfrm>
              <a:off x="15140880" y="51015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2" name="Rectangle 20"/>
          <p:cNvSpPr/>
          <p:nvPr/>
        </p:nvSpPr>
        <p:spPr>
          <a:xfrm>
            <a:off x="28946520" y="21950000"/>
            <a:ext cx="12306240" cy="804960"/>
          </a:xfrm>
          <a:prstGeom prst="rect">
            <a:avLst/>
          </a:prstGeom>
          <a:noFill/>
          <a:ln w="0">
            <a:noFill/>
          </a:ln>
        </p:spPr>
        <p:style>
          <a:lnRef idx="0"/>
          <a:fillRef idx="0"/>
          <a:effectRef idx="0"/>
          <a:fontRef idx="minor"/>
        </p:style>
        <p:txBody>
          <a:bodyPr lIns="90000" rIns="90000" tIns="46800" bIns="46800" anchor="t">
            <a:spAutoFit/>
          </a:bodyPr>
          <a:p>
            <a:pPr>
              <a:lnSpc>
                <a:spcPts val="2200"/>
              </a:lnSpc>
              <a:spcAft>
                <a:spcPts val="1199"/>
              </a:spcAft>
            </a:pPr>
            <a:r>
              <a:rPr b="1" lang="en-GB" sz="3600" spc="-1" strike="noStrike">
                <a:solidFill>
                  <a:srgbClr val="000000"/>
                </a:solidFill>
                <a:latin typeface="Arial"/>
                <a:ea typeface="Arial"/>
              </a:rPr>
              <a:t xml:space="preserve">References</a:t>
            </a:r>
            <a:endParaRPr b="0" lang="en-GB" sz="36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Buolamwini, J. and Gebru, T. (2018) ‘Gender shades: intersectional accuracy disparities in commercial gender classification’, </a:t>
            </a:r>
            <a:r>
              <a:rPr b="0" i="1" lang="en-GB" sz="1500" spc="-1" strike="noStrike">
                <a:solidFill>
                  <a:srgbClr val="000000"/>
                </a:solidFill>
                <a:latin typeface="Arial"/>
                <a:ea typeface="Arial"/>
              </a:rPr>
              <a:t xml:space="preserve">Proceedings of the 1st Conference on Fairness, Accountability and Transparency</a:t>
            </a:r>
            <a:r>
              <a:rPr b="0" lang="en-GB" sz="1500" spc="-1" strike="noStrike">
                <a:solidFill>
                  <a:srgbClr val="000000"/>
                </a:solidFill>
                <a:latin typeface="Arial"/>
                <a:ea typeface="Arial"/>
              </a:rPr>
              <a:t xml:space="preserve">, PMLR 81, pp. 77–91.</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Esteva, A., Kuprel, B., Novoa, R.A., Ko, J., Swetter, S.M., Blau, H.M. and Thrun, S. (2017) ‘Dermatologist-level classification of skin cancer with deep neural networks’, </a:t>
            </a:r>
            <a:r>
              <a:rPr b="0" i="1" lang="en-GB" sz="1500" spc="-1" strike="noStrike">
                <a:solidFill>
                  <a:srgbClr val="000000"/>
                </a:solidFill>
                <a:latin typeface="Arial"/>
                <a:ea typeface="Arial"/>
              </a:rPr>
              <a:t xml:space="preserve">Nature</a:t>
            </a:r>
            <a:r>
              <a:rPr b="0" lang="en-GB" sz="1500" spc="-1" strike="noStrike">
                <a:solidFill>
                  <a:srgbClr val="000000"/>
                </a:solidFill>
                <a:latin typeface="Arial"/>
                <a:ea typeface="Arial"/>
              </a:rPr>
              <a:t xml:space="preserve">, 542(7639), pp. 115–118.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(2016) </a:t>
            </a:r>
            <a:r>
              <a:rPr b="0" i="1" lang="en-GB" sz="1500" spc="-1" strike="noStrike">
                <a:solidFill>
                  <a:srgbClr val="000000"/>
                </a:solidFill>
                <a:latin typeface="Arial"/>
                <a:ea typeface="Arial"/>
              </a:rPr>
              <a:t xml:space="preserve">Regulation (EU) 2016/679 of the European Parliament and of the Council of 27 April 2016 (General Data Protection Regulation)</a:t>
            </a:r>
            <a:r>
              <a:rPr b="0" lang="en-GB" sz="1500" spc="-1" strike="noStrike">
                <a:solidFill>
                  <a:srgbClr val="000000"/>
                </a:solidFill>
                <a:latin typeface="Arial"/>
                <a:ea typeface="Arial"/>
              </a:rPr>
              <a:t xml:space="preserve">. Official Journal of the European Union, L 119, pp. 1–88.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(2024) </a:t>
            </a:r>
            <a:r>
              <a:rPr b="0" i="1" lang="en-GB" sz="1500" spc="-1" strike="noStrike">
                <a:solidFill>
                  <a:srgbClr val="000000"/>
                </a:solidFill>
                <a:latin typeface="Arial"/>
                <a:ea typeface="Arial"/>
              </a:rPr>
              <a:t xml:space="preserve">Regulation (EU) 2024/1689 of the European Parliament and of the Council of 13 June 2024 laying down harmonised rules on artificial intelligence (Artificial Intelligence Act)</a:t>
            </a:r>
            <a:r>
              <a:rPr b="0" lang="en-GB" sz="1500" spc="-1" strike="noStrike">
                <a:solidFill>
                  <a:srgbClr val="000000"/>
                </a:solidFill>
                <a:latin typeface="Arial"/>
                <a:ea typeface="Arial"/>
              </a:rPr>
              <a:t xml:space="preserve">. Official Journal of the European Union, L series, 12 July.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Hill, K. (2020) ‘Wrongfully accused by an algorithm’, </a:t>
            </a:r>
            <a:r>
              <a:rPr b="0" i="1" lang="en-GB" sz="1500" spc="-1" strike="noStrike">
                <a:solidFill>
                  <a:srgbClr val="000000"/>
                </a:solidFill>
                <a:latin typeface="Arial"/>
                <a:ea typeface="Arial"/>
              </a:rPr>
              <a:t xml:space="preserve">The New York Times</a:t>
            </a:r>
            <a:r>
              <a:rPr b="0" lang="en-GB" sz="1500" spc="-1" strike="noStrike">
                <a:solidFill>
                  <a:srgbClr val="000000"/>
                </a:solidFill>
                <a:latin typeface="Arial"/>
                <a:ea typeface="Arial"/>
              </a:rPr>
              <a:t xml:space="preserve">, 24 June. Available at: https://www.nytimes.com/2020/06/24/technology/facial-recognition-arrest.html (Accessed: 16 October 2026).</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Krizhevsky, A., Sutskever, I. and Hinton, G.E. (2012) ‘ImageNet classification with deep convolutional neural networks’, </a:t>
            </a:r>
            <a:r>
              <a:rPr b="0" i="1" lang="en-GB" sz="1500" spc="-1" strike="noStrike">
                <a:solidFill>
                  <a:srgbClr val="000000"/>
                </a:solidFill>
                <a:latin typeface="Arial"/>
                <a:ea typeface="Arial"/>
              </a:rPr>
              <a:t xml:space="preserve">Advances in Neural Information Processing Systems</a:t>
            </a:r>
            <a:r>
              <a:rPr b="0" lang="en-GB" sz="1500" spc="-1" strike="noStrike">
                <a:solidFill>
                  <a:srgbClr val="000000"/>
                </a:solidFill>
                <a:latin typeface="Arial"/>
                <a:ea typeface="Arial"/>
              </a:rPr>
              <a:t xml:space="preserve">, 25, pp. 1097–1105.</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LeCun, Y., Bottou, L., Bengio, Y. and Haffner, P. (1998) ‘Gradient-based learning applied to document recognition’, </a:t>
            </a:r>
            <a:r>
              <a:rPr b="0" i="1" lang="en-GB" sz="1500" spc="-1" strike="noStrike">
                <a:solidFill>
                  <a:srgbClr val="000000"/>
                </a:solidFill>
                <a:latin typeface="Arial"/>
                <a:ea typeface="Arial"/>
              </a:rPr>
              <a:t xml:space="preserve">Proceedings of the IEEE</a:t>
            </a:r>
            <a:r>
              <a:rPr b="0" lang="en-GB" sz="1500" spc="-1" strike="noStrike">
                <a:solidFill>
                  <a:srgbClr val="000000"/>
                </a:solidFill>
                <a:latin typeface="Arial"/>
                <a:ea typeface="Arial"/>
              </a:rPr>
              <a:t xml:space="preserve">, 86(11), pp. 2278–2324.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Manduchi, R. and Coughlan, J. (2012) ‘(Computer) vision without sight’, </a:t>
            </a:r>
            <a:r>
              <a:rPr b="0" i="1" lang="en-GB" sz="1500" spc="-1" strike="noStrike">
                <a:solidFill>
                  <a:srgbClr val="000000"/>
                </a:solidFill>
                <a:latin typeface="Arial"/>
                <a:ea typeface="Arial"/>
              </a:rPr>
              <a:t xml:space="preserve">Communications of the ACM</a:t>
            </a:r>
            <a:r>
              <a:rPr b="0" lang="en-GB" sz="1500" spc="-1" strike="noStrike">
                <a:solidFill>
                  <a:srgbClr val="000000"/>
                </a:solidFill>
                <a:latin typeface="Arial"/>
                <a:ea typeface="Arial"/>
              </a:rPr>
              <a:t xml:space="preserve">, 55(1), pp. 96–104.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Roberts, L.G. (1963) </a:t>
            </a:r>
            <a:r>
              <a:rPr b="0" i="1" lang="en-GB" sz="1500" spc="-1" strike="noStrike">
                <a:solidFill>
                  <a:srgbClr val="000000"/>
                </a:solidFill>
                <a:latin typeface="Arial"/>
                <a:ea typeface="Arial"/>
              </a:rPr>
              <a:t xml:space="preserve">Machine perception of three-dimensional solids</a:t>
            </a:r>
            <a:r>
              <a:rPr b="0" lang="en-GB" sz="1500" spc="-1" strike="noStrike">
                <a:solidFill>
                  <a:srgbClr val="000000"/>
                </a:solidFill>
                <a:latin typeface="Arial"/>
                <a:ea typeface="Arial"/>
              </a:rPr>
              <a:t xml:space="preserve">. PhD thesis. Massachusetts Institute of Technology.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Szeliski, R. (2022) </a:t>
            </a:r>
            <a:r>
              <a:rPr b="0" i="1" lang="en-GB" sz="1500" spc="-1" strike="noStrike">
                <a:solidFill>
                  <a:srgbClr val="000000"/>
                </a:solidFill>
                <a:latin typeface="Arial"/>
                <a:ea typeface="Arial"/>
              </a:rPr>
              <a:t xml:space="preserve">Computer vision: algorithms and applications</a:t>
            </a:r>
            <a:r>
              <a:rPr b="0" lang="en-GB" sz="1500" spc="-1" strike="noStrike">
                <a:solidFill>
                  <a:srgbClr val="000000"/>
                </a:solidFill>
                <a:latin typeface="Arial"/>
                <a:ea typeface="Arial"/>
              </a:rPr>
              <a:t xml:space="preserve">. 2nd edn. Cham: Springer.</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White, E. (2024) ‘Detroit paying $300,000 to man wrongly accused of theft, making changes in use of facial technology’, </a:t>
            </a:r>
            <a:r>
              <a:rPr b="0" i="1" lang="en-GB" sz="1500" spc="-1" strike="noStrike">
                <a:solidFill>
                  <a:srgbClr val="000000"/>
                </a:solidFill>
                <a:latin typeface="Arial"/>
                <a:ea typeface="Arial"/>
              </a:rPr>
              <a:t xml:space="preserve">Associated Press</a:t>
            </a:r>
            <a:r>
              <a:rPr b="0" lang="en-GB" sz="1500" spc="-1" strike="noStrike">
                <a:solidFill>
                  <a:srgbClr val="000000"/>
                </a:solidFill>
                <a:latin typeface="Arial"/>
                <a:ea typeface="Arial"/>
              </a:rPr>
              <a:t xml:space="preserve">, 28 June. Available at: https://www.news4jax.com/tech/2024/06/28/detroit-paying-300000-to-man-wrongly-accused-of-theft-making-changes-in-use-of-facial-technology/ (Accessed: 16 October 2026).</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Zuboff, S. (2019) </a:t>
            </a:r>
            <a:r>
              <a:rPr b="0" i="1" lang="en-GB" sz="1500" spc="-1" strike="noStrike">
                <a:solidFill>
                  <a:srgbClr val="000000"/>
                </a:solidFill>
                <a:latin typeface="Arial"/>
                <a:ea typeface="Arial"/>
              </a:rPr>
              <a:t xml:space="preserve">The age of surveillance capitalism: the fight for a human future at the new frontier of power</a:t>
            </a:r>
            <a:r>
              <a:rPr b="0" lang="en-GB" sz="1500" spc="-1" strike="noStrike">
                <a:solidFill>
                  <a:srgbClr val="000000"/>
                </a:solidFill>
                <a:latin typeface="Arial"/>
                <a:ea typeface="Arial"/>
              </a:rPr>
              <a:t xml:space="preserve">. London: Profile Books.</a:t>
            </a:r>
            <a:endParaRPr b="0" lang="en-GB" sz="1500" spc="-1" strike="noStrike">
              <a:solidFill>
                <a:srgbClr val="000000"/>
              </a:solidFill>
              <a:latin typeface="Arial"/>
            </a:endParaRPr>
          </a:p>
        </p:txBody>
      </p:sp>
      <p:grpSp>
        <p:nvGrpSpPr>
          <p:cNvPr id="33" name="Group 107"/>
          <p:cNvGrpSpPr/>
          <p:nvPr/>
        </p:nvGrpSpPr>
        <p:grpSpPr>
          <a:xfrm>
            <a:off x="28918080" y="4971960"/>
            <a:ext cx="12885480" cy="1099800"/>
            <a:chOff x="28918080" y="4971960"/>
            <a:chExt cx="12885480" cy="1099800"/>
          </a:xfrm>
        </p:grpSpPr>
        <p:sp>
          <p:nvSpPr>
            <p:cNvPr id="34" name="Rectangle 249"/>
            <p:cNvSpPr/>
            <p:nvPr/>
          </p:nvSpPr>
          <p:spPr>
            <a:xfrm>
              <a:off x="28918080" y="497196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Use Case</a:t>
              </a:r>
              <a:endParaRPr b="0" lang="en-US" sz="6600" spc="-1" strike="noStrike">
                <a:solidFill>
                  <a:srgbClr val="000000"/>
                </a:solidFill>
                <a:latin typeface="Arial"/>
              </a:endParaRPr>
            </a:p>
          </p:txBody>
        </p:sp>
        <p:sp>
          <p:nvSpPr>
            <p:cNvPr id="35" name="Straight Connector 6"/>
            <p:cNvSpPr/>
            <p:nvPr/>
          </p:nvSpPr>
          <p:spPr>
            <a:xfrm>
              <a:off x="29042640" y="509832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grpSp>
        <p:nvGrpSpPr>
          <p:cNvPr id="92" name="Group 107"/>
          <p:cNvGrpSpPr/>
          <p:nvPr/>
        </p:nvGrpSpPr>
        <p:grpSpPr>
          <a:xfrm>
            <a:off x="28918080" y="14250000"/>
            <a:ext cx="12885480" cy="1099800"/>
            <a:chOff x="28918080" y="14250000"/>
            <a:chExt cx="12885480" cy="1099800"/>
          </a:xfrm>
        </p:grpSpPr>
        <p:sp>
          <p:nvSpPr>
            <p:cNvPr id="93" name="Rectangle 249"/>
            <p:cNvSpPr/>
            <p:nvPr/>
          </p:nvSpPr>
          <p:spPr>
            <a:xfrm>
              <a:off x="28918080" y="142500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Mitigation</a:t>
              </a:r>
              <a:endParaRPr b="0" lang="en-US" sz="6600" spc="-1" strike="noStrike">
                <a:solidFill>
                  <a:srgbClr val="000000"/>
                </a:solidFill>
                <a:latin typeface="Arial"/>
              </a:endParaRPr>
            </a:p>
          </p:txBody>
        </p:sp>
        <p:sp>
          <p:nvSpPr>
            <p:cNvPr id="94" name="Straight Connector 6"/>
            <p:cNvSpPr/>
            <p:nvPr/>
          </p:nvSpPr>
          <p:spPr>
            <a:xfrm>
              <a:off x="29042640" y="143763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6" name="Rectangle 24"/>
          <p:cNvSpPr/>
          <p:nvPr/>
        </p:nvSpPr>
        <p:spPr>
          <a:xfrm>
            <a:off x="1499868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offers significant benefits to society. In healthcare, deep learning models can classify skin cancer with accuracy comparable to dermatologists, supporting earlier diagnosis (Esteva et al., 2017). It also improves safety and accessibility through driver-assistance systems and apps that describe surroundings to visually impaired users (Manduchi and Coughlan, 2012). These benefits suggest that, when used responsibly, the technology can help save lives.</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However, it also raises serious ethical concerns. Commercial facial analysis systems misclassified the gender of darker-skinned women up to 34.7% of the time, compared with 0.8% for lighter-skinned men (Buolamwini and Gebru, 2018). If similar errors occur in policing, innocent people could be wrongly suspected. Privacy is another risk: unlike a password, a face cannot be changed, yet it can be tracked without consent. Socially, constant monitoring risks normalising surveillance and weakening personal autonomy (Zuboff, 2019).</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Legally, the GDPR classifies biometric data used for identification as "special category" data requiring stronger protection (European Union, 2016). The EU AI Act goes further, largely prohibiting real-time facial recognition in public spaces for law enforcement (European Union, 2024). As both laws apply in Ireland, this suggests regulation is beginning to catch up with the technology.</a:t>
            </a:r>
            <a:endParaRPr b="0" lang="en-GB" sz="3600" spc="-1" strike="noStrike">
              <a:solidFill>
                <a:srgbClr val="000000"/>
              </a:solidFill>
              <a:latin typeface="Arial"/>
            </a:endParaRPr>
          </a:p>
        </p:txBody>
      </p:sp>
      <p:sp>
        <p:nvSpPr>
          <p:cNvPr id="37" name="Rectangle 6"/>
          <p:cNvSpPr/>
          <p:nvPr/>
        </p:nvSpPr>
        <p:spPr>
          <a:xfrm>
            <a:off x="0" y="-58680"/>
            <a:ext cx="42808680" cy="3211560"/>
          </a:xfrm>
          <a:prstGeom prst="rect">
            <a:avLst/>
          </a:prstGeom>
          <a:solidFill>
            <a:srgbClr val="006684"/>
          </a:solid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8" name="TextBox 26"/>
          <p:cNvSpPr/>
          <p:nvPr/>
        </p:nvSpPr>
        <p:spPr>
          <a:xfrm>
            <a:off x="955800" y="150840"/>
            <a:ext cx="31795920" cy="2024280"/>
          </a:xfrm>
          <a:prstGeom prst="rect">
            <a:avLst/>
          </a:prstGeom>
          <a:noFill/>
          <a:ln w="0">
            <a:noFill/>
          </a:ln>
        </p:spPr>
        <p:style>
          <a:lnRef idx="0"/>
          <a:fillRef idx="0"/>
          <a:effectRef idx="0"/>
          <a:fontRef idx="minor"/>
        </p:style>
        <p:txBody>
          <a:bodyPr lIns="90000" rIns="90000" tIns="46800" bIns="46800" anchor="t">
            <a:spAutoFit/>
          </a:bodyPr>
          <a:p>
            <a:pPr>
              <a:lnSpc>
                <a:spcPts val="76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ffffff"/>
                </a:solidFill>
                <a:latin typeface="Arial"/>
                <a:ea typeface="Arial"/>
              </a:rPr>
              <a:t>Computer Vision: Ethical, Legal and Social Impacts</a:t>
            </a:r>
            <a:endParaRPr b="0" lang="en-US" sz="6600" spc="-1" strike="noStrike">
              <a:solidFill>
                <a:srgbClr val="000000"/>
              </a:solidFill>
              <a:latin typeface="Arial"/>
            </a:endParaRPr>
          </a:p>
        </p:txBody>
      </p:sp>
      <p:sp>
        <p:nvSpPr>
          <p:cNvPr id="39" name="Rectangle 6"/>
          <p:cNvSpPr/>
          <p:nvPr/>
        </p:nvSpPr>
        <p:spPr>
          <a:xfrm>
            <a:off x="992160" y="1250000"/>
            <a:ext cx="3526956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4000" spc="-1" strike="noStrike">
                <a:solidFill>
                  <a:srgbClr val="ffffff"/>
                </a:solidFill>
                <a:latin typeface="Arial"/>
                <a:ea typeface="Arial"/>
              </a:rPr>
              <a:t>Muhammad Asharib</a:t>
            </a:r>
            <a:endParaRPr b="0" lang="en-US" sz="4000" spc="-1" strike="noStrike">
              <a:solidFill>
                <a:srgbClr val="000000"/>
              </a:solidFill>
              <a:latin typeface="Arial"/>
            </a:endParaRPr>
          </a:p>
        </p:txBody>
      </p:sp>
      <p:sp>
        <p:nvSpPr>
          <p:cNvPr id="40" name="Rectangle 20"/>
          <p:cNvSpPr/>
          <p:nvPr/>
        </p:nvSpPr>
        <p:spPr>
          <a:xfrm>
            <a:off x="974880" y="3211560"/>
            <a:ext cx="200000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0000"/>
                </a:solidFill>
                <a:latin typeface="Arial"/>
                <a:ea typeface="Arial"/>
              </a:rPr>
              <a:t>BSc (Hons) in Computing in IT, CCT College Dublin</a:t>
            </a:r>
            <a:endParaRPr b="0" lang="en-US" sz="2400" spc="-1" strike="noStrike">
              <a:solidFill>
                <a:srgbClr val="000000"/>
              </a:solidFill>
              <a:latin typeface="Arial"/>
            </a:endParaRPr>
          </a:p>
        </p:txBody>
      </p:sp>
      <p:pic>
        <p:nvPicPr>
          <p:cNvPr id="41" name="Picture 3" descr="A blue and black text&#10;&#10;Description automatically generated"/>
          <p:cNvPicPr/>
          <p:nvPr/>
        </p:nvPicPr>
        <p:blipFill>
          <a:blip r:embed="rId1"/>
          <a:stretch/>
        </p:blipFill>
        <p:spPr>
          <a:xfrm>
            <a:off x="34945560" y="625320"/>
            <a:ext cx="6784920" cy="1789200"/>
          </a:xfrm>
          <a:prstGeom prst="rect">
            <a:avLst/>
          </a:prstGeom>
          <a:ln w="0">
            <a:noFill/>
          </a:ln>
        </p:spPr>
      </p:pic>
      <p:pic>
        <p:nvPicPr>
          <p:cNvPr id="96" name="Picture 95" descr="fig2.png"/>
          <p:cNvPicPr>
            <a:picLocks noChangeAspect="1"/>
          </p:cNvPicPr>
          <p:nvPr/>
        </p:nvPicPr>
        <p:blipFill>
          <a:blip r:embed="rId4"/>
          <a:stretch>
            <a:fillRect/>
          </a:stretch>
        </p:blipFill>
        <p:spPr>
          <a:xfrm>
            <a:off x="15098760" y="24000000"/>
            <a:ext cx="12660120" cy="4000000"/>
          </a:xfrm>
          <a:prstGeom prst="rect">
            <a:avLst/>
          </a:prstGeom>
        </p:spPr>
      </p:pic>
      <p:sp>
        <p:nvSpPr>
          <p:cNvPr id="26" name="Rectangle 8"/>
          <p:cNvSpPr/>
          <p:nvPr/>
        </p:nvSpPr>
        <p:spPr>
          <a:xfrm>
            <a:off x="15098760" y="24000000"/>
            <a:ext cx="12660120" cy="4000000"/>
          </a:xfrm>
          <a:prstGeom prst="rect">
            <a:avLst/>
          </a:prstGeom>
          <a:noFill/>
          <a:ln cap="sq" w="12600">
            <a:solidFill>
              <a:srgbClr val="006684"/>
            </a:solidFill>
            <a:round/>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97" name="Fig1 box 1"/>
          <p:cNvSpPr/>
          <p:nvPr/>
        </p:nvSpPr>
        <p:spPr>
          <a:xfrm>
            <a:off x="95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Camera</a:t>
            </a:r>
          </a:p>
          <a:p>
            <a:pPr algn="ctr">
              <a:spcBef>
                <a:spcPts val="600"/>
              </a:spcBef>
            </a:pPr>
            <a:r>
              <a:rPr sz="2400">
                <a:solidFill>
                  <a:srgbClr val="DDEEF3"/>
                </a:solidFill>
                <a:latin typeface="Arial"/>
              </a:rPr>
              <a:t>captures the image</a:t>
            </a:r>
          </a:p>
        </p:txBody>
      </p:sp>
      <p:pic>
        <p:nvPicPr>
          <p:cNvPr id="98" name="Fig1 icon 1" descr="camera.png"/>
          <p:cNvPicPr>
            <a:picLocks noChangeAspect="1"/>
          </p:cNvPicPr>
          <p:nvPr/>
        </p:nvPicPr>
        <p:blipFill>
          <a:blip r:embed="rId5"/>
          <a:stretch>
            <a:fillRect/>
          </a:stretch>
        </p:blipFill>
        <p:spPr>
          <a:xfrm>
            <a:off x="1617560" y="22230000"/>
            <a:ext cx="1150000" cy="1150000"/>
          </a:xfrm>
          <a:prstGeom prst="rect">
            <a:avLst/>
          </a:prstGeom>
        </p:spPr>
      </p:pic>
      <p:sp>
        <p:nvSpPr>
          <p:cNvPr id="99" name="Fig1 arrow 1"/>
          <p:cNvSpPr/>
          <p:nvPr/>
        </p:nvSpPr>
        <p:spPr>
          <a:xfrm>
            <a:off x="361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ig1 box 2"/>
          <p:cNvSpPr/>
          <p:nvPr/>
        </p:nvSpPr>
        <p:spPr>
          <a:xfrm>
            <a:off x="441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Pixels</a:t>
            </a:r>
          </a:p>
          <a:p>
            <a:pPr algn="ctr">
              <a:spcBef>
                <a:spcPts val="600"/>
              </a:spcBef>
            </a:pPr>
            <a:r>
              <a:rPr sz="2400">
                <a:solidFill>
                  <a:srgbClr val="DDEEF3"/>
                </a:solidFill>
                <a:latin typeface="Arial"/>
              </a:rPr>
              <a:t>image as numbers</a:t>
            </a:r>
          </a:p>
        </p:txBody>
      </p:sp>
      <p:pic>
        <p:nvPicPr>
          <p:cNvPr id="101" name="Fig1 icon 2" descr="pixels.png"/>
          <p:cNvPicPr>
            <a:picLocks noChangeAspect="1"/>
          </p:cNvPicPr>
          <p:nvPr/>
        </p:nvPicPr>
        <p:blipFill>
          <a:blip r:embed="rId6"/>
          <a:stretch>
            <a:fillRect/>
          </a:stretch>
        </p:blipFill>
        <p:spPr>
          <a:xfrm>
            <a:off x="5077560" y="22230000"/>
            <a:ext cx="1150000" cy="1150000"/>
          </a:xfrm>
          <a:prstGeom prst="rect">
            <a:avLst/>
          </a:prstGeom>
        </p:spPr>
      </p:pic>
      <p:sp>
        <p:nvSpPr>
          <p:cNvPr id="102" name="Fig1 arrow 2"/>
          <p:cNvSpPr/>
          <p:nvPr/>
        </p:nvSpPr>
        <p:spPr>
          <a:xfrm>
            <a:off x="707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ig1 box 3"/>
          <p:cNvSpPr/>
          <p:nvPr/>
        </p:nvSpPr>
        <p:spPr>
          <a:xfrm>
            <a:off x="787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CNN</a:t>
            </a:r>
          </a:p>
          <a:p>
            <a:pPr algn="ctr">
              <a:spcBef>
                <a:spcPts val="600"/>
              </a:spcBef>
            </a:pPr>
            <a:r>
              <a:rPr sz="2400">
                <a:solidFill>
                  <a:srgbClr val="DDEEF3"/>
                </a:solidFill>
                <a:latin typeface="Arial"/>
              </a:rPr>
              <a:t>AI model finds patterns</a:t>
            </a:r>
          </a:p>
        </p:txBody>
      </p:sp>
      <p:pic>
        <p:nvPicPr>
          <p:cNvPr id="104" name="Fig1 icon 3" descr="cnn.png"/>
          <p:cNvPicPr>
            <a:picLocks noChangeAspect="1"/>
          </p:cNvPicPr>
          <p:nvPr/>
        </p:nvPicPr>
        <p:blipFill>
          <a:blip r:embed="rId7"/>
          <a:stretch>
            <a:fillRect/>
          </a:stretch>
        </p:blipFill>
        <p:spPr>
          <a:xfrm>
            <a:off x="8537560" y="22230000"/>
            <a:ext cx="1150000" cy="1150000"/>
          </a:xfrm>
          <a:prstGeom prst="rect">
            <a:avLst/>
          </a:prstGeom>
        </p:spPr>
      </p:pic>
      <p:sp>
        <p:nvSpPr>
          <p:cNvPr id="105" name="Fig1 arrow 3"/>
          <p:cNvSpPr/>
          <p:nvPr/>
        </p:nvSpPr>
        <p:spPr>
          <a:xfrm>
            <a:off x="1053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ig1 box 4"/>
          <p:cNvSpPr/>
          <p:nvPr/>
        </p:nvSpPr>
        <p:spPr>
          <a:xfrm>
            <a:off x="1133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Result</a:t>
            </a:r>
          </a:p>
          <a:p>
            <a:pPr algn="ctr">
              <a:spcBef>
                <a:spcPts val="600"/>
              </a:spcBef>
            </a:pPr>
            <a:r>
              <a:rPr sz="2400">
                <a:solidFill>
                  <a:srgbClr val="DDEEF3"/>
                </a:solidFill>
                <a:latin typeface="Arial"/>
              </a:rPr>
              <a:t>e.g. face recognised</a:t>
            </a:r>
          </a:p>
        </p:txBody>
      </p:sp>
      <p:pic>
        <p:nvPicPr>
          <p:cNvPr id="107" name="Fig1 icon 4" descr="result.png"/>
          <p:cNvPicPr>
            <a:picLocks noChangeAspect="1"/>
          </p:cNvPicPr>
          <p:nvPr/>
        </p:nvPicPr>
        <p:blipFill>
          <a:blip r:embed="rId8"/>
          <a:stretch>
            <a:fillRect/>
          </a:stretch>
        </p:blipFill>
        <p:spPr>
          <a:xfrm>
            <a:off x="11997560" y="22230000"/>
            <a:ext cx="1150000" cy="1150000"/>
          </a:xfrm>
          <a:prstGeom prst="rect">
            <a:avLst/>
          </a:prstGeom>
        </p:spPr>
      </p:pic>
      <p:sp>
        <p:nvSpPr>
          <p:cNvPr id="108" name="Rectangle 20"/>
          <p:cNvSpPr/>
          <p:nvPr/>
        </p:nvSpPr>
        <p:spPr>
          <a:xfrm>
            <a:off x="952560" y="259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1</a:t>
            </a:r>
            <a:r>
              <a:rPr b="0" lang="en-GB" sz="2400" spc="-1" strike="noStrike">
                <a:solidFill>
                  <a:srgbClr val="000000"/>
                </a:solidFill>
                <a:latin typeface="Arial"/>
                <a:ea typeface="Arial"/>
              </a:rPr>
              <a:t> How computer vision works (own diagram)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18468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2000-02-09T05:19:10Z</dcterms:created>
  <dc:creator>Anne Koerber</dc:creator>
  <dc:description/>
  <dc:language>en-US</dc:language>
  <cp:lastModifiedBy>David  McQuaid</cp:lastModifiedBy>
  <cp:lastPrinted>2014-07-25T07:09:17Z</cp:lastPrinted>
  <dcterms:modified xsi:type="dcterms:W3CDTF">2024-10-08T08:13:52Z</dcterms:modified>
  <cp:revision>571</cp:revision>
  <dc:subject/>
  <dc:title>PowerPoint Presentation</dc:title>
</cp:coreProperties>
</file>