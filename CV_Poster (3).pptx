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Lst>
  <p:sldSz cx="42806938" cy="30279975"/>
  <p:notesSz cx="6767513" cy="9907588"/>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 name=""/>
          <p:cNvSpPr/>
          <p:nvPr/>
        </p:nvSpPr>
        <p:spPr>
          <a:xfrm>
            <a:off x="0" y="0"/>
            <a:ext cx="6768000" cy="9907200"/>
          </a:xfrm>
          <a:prstGeom prst="rect">
            <a:avLst/>
          </a:prstGeom>
          <a:solidFill>
            <a:srgbClr val="ffffff"/>
          </a:solidFill>
          <a:ln w="0">
            <a:noFill/>
          </a:ln>
        </p:spPr>
        <p:txBody>
          <a:bodyPr lIns="90000" rIns="90000" tIns="45000" bIns="45000" anchor="ctr" anchorCtr="1">
            <a:noAutofit/>
          </a:bodyPr>
          <a:p>
            <a:endParaRPr b="0" lang="en-US" sz="2300" spc="-1" strike="noStrike">
              <a:solidFill>
                <a:srgbClr val="000000"/>
              </a:solidFill>
              <a:latin typeface="Arial"/>
            </a:endParaRPr>
          </a:p>
        </p:txBody>
      </p:sp>
      <p:sp>
        <p:nvSpPr>
          <p:cNvPr id="6" name="PlaceHolder 1"/>
          <p:cNvSpPr>
            <a:spLocks noGrp="1"/>
          </p:cNvSpPr>
          <p:nvPr>
            <p:ph type="hdr"/>
          </p:nvPr>
        </p:nvSpPr>
        <p:spPr>
          <a:xfrm>
            <a:off x="-360" y="0"/>
            <a:ext cx="2933640" cy="49536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300" spc="-1" strike="noStrike">
              <a:solidFill>
                <a:srgbClr val="000000"/>
              </a:solidFill>
              <a:latin typeface="Arial"/>
            </a:endParaRPr>
          </a:p>
        </p:txBody>
      </p:sp>
      <p:sp>
        <p:nvSpPr>
          <p:cNvPr id="7" name="PlaceHolder 2"/>
          <p:cNvSpPr>
            <a:spLocks noGrp="1"/>
          </p:cNvSpPr>
          <p:nvPr>
            <p:ph type="dt" idx="4"/>
          </p:nvPr>
        </p:nvSpPr>
        <p:spPr>
          <a:xfrm>
            <a:off x="3833640" y="0"/>
            <a:ext cx="2934000" cy="495360"/>
          </a:xfrm>
          <a:prstGeom prst="rect">
            <a:avLst/>
          </a:prstGeom>
          <a:noFill/>
          <a:ln w="0">
            <a:noFill/>
          </a:ln>
        </p:spPr>
        <p:txBody>
          <a:bodyPr lIns="90000" rIns="90000" tIns="46800" bIns="46800" anchor="t">
            <a:noAutofit/>
          </a:bodyPr>
          <a:lstStyle>
            <a:lvl1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pc="-1" strike="noStrike">
                <a:solidFill>
                  <a:srgbClr val="000000"/>
                </a:solidFill>
                <a:latin typeface="Arial"/>
              </a:defRPr>
            </a:lvl1pPr>
          </a:lstStyle>
          <a:p>
            <a: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&lt;date/time&gt;</a:t>
            </a:r>
            <a:endParaRPr b="0" lang="en-US" sz="1200" spc="-1" strike="noStrike">
              <a:solidFill>
                <a:srgbClr val="000000"/>
              </a:solidFill>
              <a:latin typeface="Arial"/>
            </a:endParaRPr>
          </a:p>
        </p:txBody>
      </p:sp>
      <p:sp>
        <p:nvSpPr>
          <p:cNvPr id="8" name="PlaceHolder 3"/>
          <p:cNvSpPr>
            <a:spLocks noGrp="1"/>
          </p:cNvSpPr>
          <p:nvPr>
            <p:ph type="sldImg"/>
          </p:nvPr>
        </p:nvSpPr>
        <p:spPr>
          <a:xfrm>
            <a:off x="758520" y="742680"/>
            <a:ext cx="5251320" cy="3714840"/>
          </a:xfrm>
          <a:prstGeom prst="rect">
            <a:avLst/>
          </a:prstGeom>
          <a:noFill/>
          <a:ln w="12600">
            <a:solidFill>
              <a:srgbClr val="000000"/>
            </a:solidFill>
            <a:miter/>
          </a:ln>
        </p:spPr>
        <p:txBody>
          <a:bodyPr lIns="90000" rIns="90000" tIns="46800" bIns="46800" anchor="ctr">
            <a:noAutofit/>
          </a:bodyPr>
          <a:p>
            <a:pPr indent="0" algn="ctr">
              <a:buNone/>
              <a:tabLst>
                <a:tab algn="l" pos="0"/>
                <a:tab algn="l" pos="4491000"/>
                <a:tab algn="l" pos="8982000"/>
              </a:tabLst>
            </a:pPr>
            <a:r>
              <a:rPr b="0" lang="en-US" sz="21600" spc="-1" strike="noStrike">
                <a:solidFill>
                  <a:srgbClr val="000000"/>
                </a:solidFill>
                <a:latin typeface="Times New Roman"/>
              </a:rPr>
              <a:t>Click to move the slide</a:t>
            </a:r>
            <a:endParaRPr b="0" lang="en-US" sz="21600" spc="-1" strike="noStrike">
              <a:solidFill>
                <a:srgbClr val="000000"/>
              </a:solidFill>
              <a:latin typeface="Times New Roman"/>
            </a:endParaRPr>
          </a:p>
        </p:txBody>
      </p:sp>
      <p:sp>
        <p:nvSpPr>
          <p:cNvPr id="9" name="PlaceHolder 4"/>
          <p:cNvSpPr>
            <a:spLocks noGrp="1"/>
          </p:cNvSpPr>
          <p:nvPr>
            <p:ph type="body"/>
          </p:nvPr>
        </p:nvSpPr>
        <p:spPr>
          <a:xfrm>
            <a:off x="676440" y="4704840"/>
            <a:ext cx="5416560" cy="4457880"/>
          </a:xfrm>
          <a:prstGeom prst="rect">
            <a:avLst/>
          </a:prstGeom>
          <a:noFill/>
          <a:ln w="0">
            <a:noFill/>
          </a:ln>
        </p:spPr>
        <p:txBody>
          <a:bodyPr lIns="90000" rIns="90000" tIns="46800" bIns="46800" anchor="t">
            <a:noAutofit/>
          </a:bodyPr>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pc="-1" strike="noStrike">
                <a:solidFill>
                  <a:srgbClr val="000000"/>
                </a:solidFill>
                <a:latin typeface="Calibri"/>
              </a:rPr>
              <a:t>Click to edit the notes format</a:t>
            </a:r>
            <a:endParaRPr b="0" lang="en-US" sz="1200" spc="-1" strike="noStrike">
              <a:solidFill>
                <a:srgbClr val="000000"/>
              </a:solidFill>
              <a:latin typeface="Calibri"/>
            </a:endParaRPr>
          </a:p>
        </p:txBody>
      </p:sp>
      <p:sp>
        <p:nvSpPr>
          <p:cNvPr id="10" name="PlaceHolder 5"/>
          <p:cNvSpPr>
            <a:spLocks noGrp="1"/>
          </p:cNvSpPr>
          <p:nvPr>
            <p:ph type="ftr" idx="5"/>
          </p:nvPr>
        </p:nvSpPr>
        <p:spPr>
          <a:xfrm>
            <a:off x="-360" y="9408960"/>
            <a:ext cx="2933640" cy="49536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300" spc="-1" strike="noStrike">
              <a:solidFill>
                <a:srgbClr val="000000"/>
              </a:solidFill>
              <a:latin typeface="Arial"/>
            </a:endParaRPr>
          </a:p>
        </p:txBody>
      </p:sp>
      <p:sp>
        <p:nvSpPr>
          <p:cNvPr id="11" name="PlaceHolder 6"/>
          <p:cNvSpPr>
            <a:spLocks noGrp="1"/>
          </p:cNvSpPr>
          <p:nvPr>
            <p:ph type="sldNum" idx="6"/>
          </p:nvPr>
        </p:nvSpPr>
        <p:spPr>
          <a:xfrm>
            <a:off x="3833640" y="9408960"/>
            <a:ext cx="2934000" cy="495360"/>
          </a:xfrm>
          <a:prstGeom prst="rect">
            <a:avLst/>
          </a:prstGeom>
          <a:noFill/>
          <a:ln w="0">
            <a:noFill/>
          </a:ln>
        </p:spPr>
        <p:txBody>
          <a:bodyPr lIns="90000" rIns="90000" tIns="46800" bIns="46800" anchor="b">
            <a:noAutofit/>
          </a:bodyPr>
          <a:lstStyle>
            <a:lvl1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pc="-1" strike="noStrike">
                <a:solidFill>
                  <a:srgbClr val="000000"/>
                </a:solidFill>
                <a:latin typeface="Arial"/>
              </a:defRPr>
            </a:lvl1pPr>
          </a:lstStyle>
          <a:p>
            <a: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53BEFC5-4218-4112-A2AA-8E9CAB37C2B2}" type="slidenum">
              <a:rPr b="0" lang="en-US" sz="1200" spc="-1" strike="noStrike">
                <a:solidFill>
                  <a:srgbClr val="000000"/>
                </a:solidFill>
                <a:latin typeface="Arial"/>
              </a:rPr>
              <a:t>&lt;number&gt;</a:t>
            </a:fld>
            <a:endParaRPr b="0" lang="en-US" sz="12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 name="PlaceHolder 1"/>
          <p:cNvSpPr>
            <a:spLocks noGrp="1"/>
          </p:cNvSpPr>
          <p:nvPr>
            <p:ph type="sldImg"/>
          </p:nvPr>
        </p:nvSpPr>
        <p:spPr>
          <a:xfrm>
            <a:off x="758880" y="743040"/>
            <a:ext cx="5251320" cy="3714840"/>
          </a:xfrm>
          <a:prstGeom prst="rect">
            <a:avLst/>
          </a:prstGeom>
          <a:ln w="0">
            <a:noFill/>
          </a:ln>
        </p:spPr>
      </p:sp>
      <p:sp>
        <p:nvSpPr>
          <p:cNvPr id="43" name="PlaceHolder 2"/>
          <p:cNvSpPr>
            <a:spLocks noGrp="1"/>
          </p:cNvSpPr>
          <p:nvPr>
            <p:ph type="body"/>
          </p:nvPr>
        </p:nvSpPr>
        <p:spPr>
          <a:xfrm>
            <a:off x="676440" y="4704840"/>
            <a:ext cx="5416560" cy="4457880"/>
          </a:xfrm>
          <a:prstGeom prst="rect">
            <a:avLst/>
          </a:prstGeom>
          <a:noFill/>
          <a:ln w="0">
            <a:noFill/>
          </a:ln>
        </p:spPr>
        <p:txBody>
          <a:bodyPr lIns="0" rIns="0" tIns="0" bIns="0" anchor="t">
            <a:noAutofit/>
          </a:bodyPr>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1200" spc="-1" strike="noStrike">
              <a:solidFill>
                <a:srgbClr val="000000"/>
              </a:solidFill>
              <a:latin typeface="Calibri"/>
            </a:endParaRPr>
          </a:p>
        </p:txBody>
      </p:sp>
      <p:sp>
        <p:nvSpPr>
          <p:cNvPr id="44" name="Slide Number Placeholder 3"/>
          <p:cNvSpPr/>
          <p:nvPr/>
        </p:nvSpPr>
        <p:spPr>
          <a:xfrm>
            <a:off x="3833640" y="9408960"/>
            <a:ext cx="2934000" cy="49536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F00F7DE-E8BF-4559-B736-F96F5746DFBF}" type="slidenum">
              <a:rPr b="0" lang="en-US" sz="1200" spc="-1" strike="noStrike">
                <a:solidFill>
                  <a:srgbClr val="000000"/>
                </a:solidFill>
                <a:latin typeface="Arial"/>
              </a:rPr>
              <a:t>&lt;number&gt;</a:t>
            </a:fld>
            <a:endParaRPr b="0" lang="en-US" sz="1200" spc="-1" strike="noStrike">
              <a:solidFill>
                <a:srgbClr val="000000"/>
              </a:solidFill>
              <a:latin typeface="Arial"/>
            </a:endParaRPr>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47EA521D-9CB4-4F5A-A8FF-91A68931216D}" type="slidenum">
              <a:t>&lt;#&gt;</a:t>
            </a:fld>
          </a:p>
        </p:txBody>
      </p:sp>
      <p:sp>
        <p:nvSpPr>
          <p:cNvPr id="4" name="PlaceHolder 3"/>
          <p:cNvSpPr>
            <a:spLocks noGrp="1"/>
          </p:cNvSpPr>
          <p:nvPr>
            <p:ph type="dt" idx="1"/>
          </p:nvPr>
        </p:nvSpPr>
        <p:spPr/>
        <p:txBody>
          <a:bodyPr/>
          <a:p>
            <a:r>
              <a:rPr lang="en-US"/>
              <a:t/>
            </a:r>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3209760" y="2690280"/>
            <a:ext cx="36388800" cy="5046840"/>
          </a:xfrm>
          <a:prstGeom prst="rect">
            <a:avLst/>
          </a:prstGeom>
          <a:noFill/>
          <a:ln w="0">
            <a:noFill/>
          </a:ln>
        </p:spPr>
        <p:txBody>
          <a:bodyPr lIns="449280" rIns="449280" tIns="224640" bIns="224640" anchor="ctr">
            <a:noAutofit/>
          </a:bodyPr>
          <a:p>
            <a:pPr indent="0" algn="ctr">
              <a:buNone/>
              <a:tabLst>
                <a:tab algn="l" pos="0"/>
                <a:tab algn="l" pos="4491000"/>
                <a:tab algn="l" pos="8982000"/>
              </a:tabLst>
            </a:pPr>
            <a:r>
              <a:rPr b="0" lang="en-US" sz="21600" spc="-1" strike="noStrike">
                <a:solidFill>
                  <a:srgbClr val="000000"/>
                </a:solidFill>
                <a:latin typeface="Times New Roman"/>
              </a:rPr>
              <a:t>Click to edit the title text format</a:t>
            </a:r>
            <a:endParaRPr b="0" lang="en-US" sz="21600" spc="-1" strike="noStrike">
              <a:solidFill>
                <a:srgbClr val="000000"/>
              </a:solidFill>
              <a:latin typeface="Times New Roman"/>
            </a:endParaRPr>
          </a:p>
        </p:txBody>
      </p:sp>
      <p:sp>
        <p:nvSpPr>
          <p:cNvPr id="1" name="PlaceHolder 2"/>
          <p:cNvSpPr>
            <a:spLocks noGrp="1"/>
          </p:cNvSpPr>
          <p:nvPr>
            <p:ph type="body"/>
          </p:nvPr>
        </p:nvSpPr>
        <p:spPr>
          <a:xfrm>
            <a:off x="3209760" y="8746920"/>
            <a:ext cx="36388800" cy="18168840"/>
          </a:xfrm>
          <a:prstGeom prst="rect">
            <a:avLst/>
          </a:prstGeom>
          <a:noFill/>
          <a:ln w="0">
            <a:noFill/>
          </a:ln>
        </p:spPr>
        <p:txBody>
          <a:bodyPr lIns="449280" rIns="449280" tIns="224640" bIns="224640" anchor="t">
            <a:normAutofit fontScale="88968"/>
          </a:bodyPr>
          <a:p>
            <a:pPr marL="1682640" indent="-1682640">
              <a:spcBef>
                <a:spcPts val="3875"/>
              </a:spcBef>
              <a:buClr>
                <a:srgbClr val="000000"/>
              </a:buClr>
              <a:buFont typeface="Times New Roman"/>
              <a:buChar char="•"/>
              <a:tabLst>
                <a:tab algn="l" pos="4491000"/>
                <a:tab algn="l" pos="8982000"/>
              </a:tabLst>
            </a:pPr>
            <a:r>
              <a:rPr b="0" lang="en-US" sz="15500" spc="-1" strike="noStrike">
                <a:solidFill>
                  <a:srgbClr val="000000"/>
                </a:solidFill>
                <a:latin typeface="Times New Roman"/>
              </a:rPr>
              <a:t>Click to edit the outline text format</a:t>
            </a:r>
            <a:endParaRPr b="0" lang="en-US" sz="15500" spc="-1" strike="noStrike">
              <a:solidFill>
                <a:srgbClr val="000000"/>
              </a:solidFill>
              <a:latin typeface="Times New Roman"/>
            </a:endParaRPr>
          </a:p>
          <a:p>
            <a:pPr lvl="1" marL="3649680" indent="-1400040">
              <a:spcBef>
                <a:spcPts val="3875"/>
              </a:spcBef>
              <a:buClr>
                <a:srgbClr val="000000"/>
              </a:buClr>
              <a:buFont typeface="Times New Roman"/>
              <a:buChar char="–"/>
              <a:tabLst>
                <a:tab algn="l" pos="4491000"/>
                <a:tab algn="l" pos="8982000"/>
              </a:tabLst>
            </a:pPr>
            <a:r>
              <a:rPr b="0" lang="en-US" sz="15500" spc="-1" strike="noStrike">
                <a:solidFill>
                  <a:srgbClr val="000000"/>
                </a:solidFill>
                <a:latin typeface="Times New Roman"/>
              </a:rPr>
              <a:t>Second Outline Level</a:t>
            </a:r>
            <a:endParaRPr b="0" lang="en-US" sz="15500" spc="-1" strike="noStrike">
              <a:solidFill>
                <a:srgbClr val="000000"/>
              </a:solidFill>
              <a:latin typeface="Times New Roman"/>
            </a:endParaRPr>
          </a:p>
          <a:p>
            <a:pPr lvl="2" marL="5614920" indent="-1123920">
              <a:spcBef>
                <a:spcPts val="3875"/>
              </a:spcBef>
              <a:buClr>
                <a:srgbClr val="000000"/>
              </a:buClr>
              <a:buFont typeface="Times New Roman"/>
              <a:buChar char="•"/>
              <a:tabLst>
                <a:tab algn="l" pos="4491000"/>
                <a:tab algn="l" pos="8982000"/>
              </a:tabLst>
            </a:pPr>
            <a:r>
              <a:rPr b="0" lang="en-US" sz="15500" spc="-1" strike="noStrike">
                <a:solidFill>
                  <a:srgbClr val="000000"/>
                </a:solidFill>
                <a:latin typeface="Times New Roman"/>
              </a:rPr>
              <a:t>Third Outline Level</a:t>
            </a:r>
            <a:endParaRPr b="0" lang="en-US" sz="15500" spc="-1" strike="noStrike">
              <a:solidFill>
                <a:srgbClr val="000000"/>
              </a:solidFill>
              <a:latin typeface="Times New Roman"/>
            </a:endParaRPr>
          </a:p>
          <a:p>
            <a:pPr lvl="3" marL="7864560" indent="-1125720">
              <a:spcBef>
                <a:spcPts val="3875"/>
              </a:spcBef>
              <a:buClr>
                <a:srgbClr val="000000"/>
              </a:buClr>
              <a:buFont typeface="Times New Roman"/>
              <a:buChar char="–"/>
              <a:tabLst>
                <a:tab algn="l" pos="4491000"/>
                <a:tab algn="l" pos="8982000"/>
              </a:tabLst>
            </a:pPr>
            <a:r>
              <a:rPr b="0" lang="en-US" sz="15500" spc="-1" strike="noStrike">
                <a:solidFill>
                  <a:srgbClr val="000000"/>
                </a:solidFill>
                <a:latin typeface="Times New Roman"/>
              </a:rPr>
              <a:t>Fourth Outline Level</a:t>
            </a:r>
            <a:endParaRPr b="0" lang="en-US" sz="15500" spc="-1" strike="noStrike">
              <a:solidFill>
                <a:srgbClr val="000000"/>
              </a:solidFill>
              <a:latin typeface="Times New Roman"/>
            </a:endParaRPr>
          </a:p>
          <a:p>
            <a:pPr lvl="4" marL="10105920" indent="-1125360">
              <a:spcBef>
                <a:spcPts val="3875"/>
              </a:spcBef>
              <a:buClr>
                <a:srgbClr val="000000"/>
              </a:buClr>
              <a:buFont typeface="Times New Roman"/>
              <a:buChar char="»"/>
              <a:tabLst>
                <a:tab algn="l" pos="4491000"/>
                <a:tab algn="l" pos="8982000"/>
              </a:tabLst>
            </a:pPr>
            <a:r>
              <a:rPr b="0" lang="en-US" sz="15500" spc="-1" strike="noStrike">
                <a:solidFill>
                  <a:srgbClr val="000000"/>
                </a:solidFill>
                <a:latin typeface="Times New Roman"/>
              </a:rPr>
              <a:t>Fifth Outline Level</a:t>
            </a:r>
            <a:endParaRPr b="0" lang="en-US" sz="15500" spc="-1" strike="noStrike">
              <a:solidFill>
                <a:srgbClr val="000000"/>
              </a:solidFill>
              <a:latin typeface="Times New Roman"/>
            </a:endParaRPr>
          </a:p>
          <a:p>
            <a:pPr lvl="5" marL="10105920" indent="-1125360">
              <a:spcBef>
                <a:spcPts val="3875"/>
              </a:spcBef>
              <a:buClr>
                <a:srgbClr val="000000"/>
              </a:buClr>
              <a:buFont typeface="Times New Roman"/>
              <a:buChar char="»"/>
              <a:tabLst>
                <a:tab algn="l" pos="4491000"/>
                <a:tab algn="l" pos="8982000"/>
              </a:tabLst>
            </a:pPr>
            <a:r>
              <a:rPr b="0" lang="en-US" sz="15500" spc="-1" strike="noStrike">
                <a:solidFill>
                  <a:srgbClr val="000000"/>
                </a:solidFill>
                <a:latin typeface="Times New Roman"/>
              </a:rPr>
              <a:t>Sixth Outline Level</a:t>
            </a:r>
            <a:endParaRPr b="0" lang="en-US" sz="15500" spc="-1" strike="noStrike">
              <a:solidFill>
                <a:srgbClr val="000000"/>
              </a:solidFill>
              <a:latin typeface="Times New Roman"/>
            </a:endParaRPr>
          </a:p>
          <a:p>
            <a:pPr lvl="6" marL="10105920" indent="-1125360">
              <a:spcBef>
                <a:spcPts val="3875"/>
              </a:spcBef>
              <a:buClr>
                <a:srgbClr val="000000"/>
              </a:buClr>
              <a:buFont typeface="Times New Roman"/>
              <a:buChar char="»"/>
              <a:tabLst>
                <a:tab algn="l" pos="4491000"/>
                <a:tab algn="l" pos="8982000"/>
              </a:tabLst>
            </a:pPr>
            <a:r>
              <a:rPr b="0" lang="en-US" sz="15500" spc="-1" strike="noStrike">
                <a:solidFill>
                  <a:srgbClr val="000000"/>
                </a:solidFill>
                <a:latin typeface="Times New Roman"/>
              </a:rPr>
              <a:t>Seventh Outline Level</a:t>
            </a:r>
            <a:endParaRPr b="0" lang="en-US" sz="15500" spc="-1" strike="noStrike">
              <a:solidFill>
                <a:srgbClr val="000000"/>
              </a:solidFill>
              <a:latin typeface="Times New Roman"/>
            </a:endParaRPr>
          </a:p>
        </p:txBody>
      </p:sp>
      <p:sp>
        <p:nvSpPr>
          <p:cNvPr id="2" name="PlaceHolder 3"/>
          <p:cNvSpPr>
            <a:spLocks noGrp="1"/>
          </p:cNvSpPr>
          <p:nvPr>
            <p:ph type="dt" idx="1"/>
          </p:nvPr>
        </p:nvSpPr>
        <p:spPr>
          <a:xfrm>
            <a:off x="3209760" y="27589320"/>
            <a:ext cx="8918640" cy="2017440"/>
          </a:xfrm>
          <a:prstGeom prst="rect">
            <a:avLst/>
          </a:prstGeom>
          <a:noFill/>
          <a:ln w="0">
            <a:noFill/>
          </a:ln>
        </p:spPr>
        <p:txBody>
          <a:bodyPr lIns="449280" rIns="449280" tIns="224640" bIns="22464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300" spc="-1" strike="noStrike">
              <a:solidFill>
                <a:srgbClr val="000000"/>
              </a:solidFill>
              <a:latin typeface="Arial"/>
            </a:endParaRPr>
          </a:p>
        </p:txBody>
      </p:sp>
      <p:sp>
        <p:nvSpPr>
          <p:cNvPr id="3" name="PlaceHolder 4"/>
          <p:cNvSpPr>
            <a:spLocks noGrp="1"/>
          </p:cNvSpPr>
          <p:nvPr>
            <p:ph type="ftr" idx="2"/>
          </p:nvPr>
        </p:nvSpPr>
        <p:spPr>
          <a:xfrm>
            <a:off x="14625360" y="27589320"/>
            <a:ext cx="13557240" cy="2017440"/>
          </a:xfrm>
          <a:prstGeom prst="rect">
            <a:avLst/>
          </a:prstGeom>
          <a:noFill/>
          <a:ln w="0">
            <a:noFill/>
          </a:ln>
        </p:spPr>
        <p:txBody>
          <a:bodyPr lIns="449280" rIns="449280" tIns="224640" bIns="22464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300" spc="-1" strike="noStrike">
              <a:solidFill>
                <a:srgbClr val="000000"/>
              </a:solidFill>
              <a:latin typeface="Arial"/>
            </a:endParaRPr>
          </a:p>
        </p:txBody>
      </p:sp>
      <p:sp>
        <p:nvSpPr>
          <p:cNvPr id="4" name="PlaceHolder 5"/>
          <p:cNvSpPr>
            <a:spLocks noGrp="1"/>
          </p:cNvSpPr>
          <p:nvPr>
            <p:ph type="sldNum" idx="3"/>
          </p:nvPr>
        </p:nvSpPr>
        <p:spPr>
          <a:xfrm>
            <a:off x="30679920" y="27589320"/>
            <a:ext cx="8918640" cy="2017440"/>
          </a:xfrm>
          <a:prstGeom prst="rect">
            <a:avLst/>
          </a:prstGeom>
          <a:noFill/>
          <a:ln w="0">
            <a:noFill/>
          </a:ln>
        </p:spPr>
        <p:txBody>
          <a:bodyPr lIns="449280" rIns="449280" tIns="224640" bIns="224640" anchor="t">
            <a:noAutofit/>
          </a:bodyPr>
          <a:lstStyle>
            <a:lvl1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GB" sz="7000" spc="-1" strike="noStrike">
                <a:solidFill>
                  <a:srgbClr val="000000"/>
                </a:solidFill>
                <a:latin typeface="Times New Roman"/>
              </a:defRPr>
            </a:lvl1pPr>
          </a:lstStyle>
          <a:p>
            <a: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38118B2-BF46-4752-9CBD-F30A83D594C5}" type="slidenum">
              <a:rPr b="0" lang="en-GB" sz="7000" spc="-1" strike="noStrike">
                <a:solidFill>
                  <a:srgbClr val="000000"/>
                </a:solidFill>
                <a:latin typeface="Times New Roman"/>
              </a:rPr>
              <a:t>&lt;number&gt;</a:t>
            </a:fld>
            <a:endParaRPr b="0" lang="en-US" sz="7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s/_rels/slid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Relationship Id="rId3" Type="http://schemas.openxmlformats.org/officeDocument/2006/relationships/notesSlide" Target="../notesSlides/notesSlide1.xml"/><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 name="Text Box 81"/>
          <p:cNvSpPr/>
          <p:nvPr/>
        </p:nvSpPr>
        <p:spPr>
          <a:xfrm>
            <a:off x="0" y="29298960"/>
            <a:ext cx="42808680" cy="993600"/>
          </a:xfrm>
          <a:prstGeom prst="rect">
            <a:avLst/>
          </a:prstGeom>
          <a:solidFill>
            <a:srgbClr val="006684"/>
          </a:solidFill>
          <a:ln w="0">
            <a:noFill/>
          </a:ln>
        </p:spPr>
        <p:style>
          <a:lnRef idx="0"/>
          <a:fillRef idx="0"/>
          <a:effectRef idx="0"/>
          <a:fontRef idx="minor"/>
        </p:style>
        <p:txBody>
          <a:bodyPr lIns="90000" rIns="90000" tIns="46800" bIns="46800" anchor="ctr" anchorCtr="1">
            <a:noAutofit/>
          </a:bodyPr>
          <a:p>
            <a:pPr>
              <a:spcBef>
                <a:spcPts val="3376"/>
              </a:spcBef>
              <a:tabLst>
                <a:tab algn="l" pos="0"/>
                <a:tab algn="l" pos="915840"/>
                <a:tab algn="l" pos="1832040"/>
                <a:tab algn="l" pos="2747880"/>
                <a:tab algn="l" pos="3664080"/>
                <a:tab algn="l" pos="4579920"/>
                <a:tab algn="l" pos="5495760"/>
                <a:tab algn="l" pos="6411960"/>
                <a:tab algn="l" pos="7327800"/>
                <a:tab algn="l" pos="8244000"/>
                <a:tab algn="l" pos="9159840"/>
                <a:tab algn="l" pos="10076040"/>
              </a:tabLst>
            </a:pPr>
            <a:endParaRPr b="0" lang="en-US" sz="2300" spc="-1" strike="noStrike">
              <a:solidFill>
                <a:srgbClr val="000000"/>
              </a:solidFill>
              <a:latin typeface="Arial"/>
            </a:endParaRPr>
          </a:p>
        </p:txBody>
      </p:sp>
      <p:sp>
        <p:nvSpPr>
          <p:cNvPr id="13" name="Rectangle 9"/>
          <p:cNvSpPr/>
          <p:nvPr/>
        </p:nvSpPr>
        <p:spPr>
          <a:xfrm>
            <a:off x="1008000" y="29335320"/>
            <a:ext cx="30830760" cy="916920"/>
          </a:xfrm>
          <a:prstGeom prst="rect">
            <a:avLst/>
          </a:prstGeom>
          <a:noFill/>
          <a:ln w="0">
            <a:noFill/>
          </a:ln>
        </p:spPr>
        <p:style>
          <a:lnRef idx="0"/>
          <a:fillRef idx="0"/>
          <a:effectRef idx="0"/>
          <a:fontRef idx="minor"/>
        </p:style>
        <p:txBody>
          <a:bodyPr lIns="90000" rIns="90000" tIns="46800" bIns="46800" anchor="t">
            <a:spAutoFit/>
          </a:bodyPr>
          <a:p>
            <a:pPr>
              <a:spcBef>
                <a:spcPts val="33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5400" spc="-1" strike="noStrike">
                <a:solidFill>
                  <a:srgbClr val="ffffff"/>
                </a:solidFill>
                <a:latin typeface="Arial"/>
                <a:ea typeface="Arial"/>
              </a:rPr>
              <a:t>Our Dedication.Your Journey.</a:t>
            </a:r>
            <a:endParaRPr b="0" lang="en-US" sz="5400" spc="-1" strike="noStrike">
              <a:solidFill>
                <a:srgbClr val="000000"/>
              </a:solidFill>
              <a:latin typeface="Arial"/>
            </a:endParaRPr>
          </a:p>
        </p:txBody>
      </p:sp>
      <p:sp>
        <p:nvSpPr>
          <p:cNvPr id="14" name="Rectangle 5"/>
          <p:cNvSpPr/>
          <p:nvPr/>
        </p:nvSpPr>
        <p:spPr>
          <a:xfrm>
            <a:off x="31964400" y="29322720"/>
            <a:ext cx="9853560" cy="916920"/>
          </a:xfrm>
          <a:prstGeom prst="rect">
            <a:avLst/>
          </a:prstGeom>
          <a:noFill/>
          <a:ln w="0">
            <a:noFill/>
          </a:ln>
        </p:spPr>
        <p:style>
          <a:lnRef idx="0"/>
          <a:fillRef idx="0"/>
          <a:effectRef idx="0"/>
          <a:fontRef idx="minor"/>
        </p:style>
        <p:txBody>
          <a:bodyPr lIns="90000" rIns="90000" tIns="46800" bIns="46800" anchor="t">
            <a:spAutoFit/>
          </a:bodyPr>
          <a:p>
            <a:pPr algn="r">
              <a:spcBef>
                <a:spcPts val="33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5400" spc="-1" strike="noStrike">
                <a:solidFill>
                  <a:srgbClr val="ffffff"/>
                </a:solidFill>
                <a:latin typeface="Arial"/>
                <a:ea typeface="Arial"/>
              </a:rPr>
              <a:t>www.cct.ie</a:t>
            </a:r>
            <a:endParaRPr b="0" lang="en-US" sz="5400" spc="-1" strike="noStrike">
              <a:solidFill>
                <a:srgbClr val="000000"/>
              </a:solidFill>
              <a:latin typeface="Arial"/>
            </a:endParaRPr>
          </a:p>
        </p:txBody>
      </p:sp>
      <p:grpSp>
        <p:nvGrpSpPr>
          <p:cNvPr id="18" name="Group 25"/>
          <p:cNvGrpSpPr/>
          <p:nvPr/>
        </p:nvGrpSpPr>
        <p:grpSpPr>
          <a:xfrm>
            <a:off x="920880" y="4964040"/>
            <a:ext cx="12885480" cy="1099800"/>
            <a:chOff x="920880" y="4964040"/>
            <a:chExt cx="12885480" cy="1099800"/>
          </a:xfrm>
        </p:grpSpPr>
        <p:sp>
          <p:nvSpPr>
            <p:cNvPr id="19" name="Rectangle 241"/>
            <p:cNvSpPr/>
            <p:nvPr/>
          </p:nvSpPr>
          <p:spPr>
            <a:xfrm>
              <a:off x="920880" y="4964040"/>
              <a:ext cx="12885480" cy="109980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6600" spc="-1" strike="noStrike">
                  <a:solidFill>
                    <a:srgbClr val="006684"/>
                  </a:solidFill>
                  <a:latin typeface="Arial"/>
                  <a:ea typeface="Arial"/>
                </a:rPr>
                <a:t>What is Computer Vision?</a:t>
              </a:r>
              <a:endParaRPr b="0" lang="en-US" sz="6600" spc="-1" strike="noStrike">
                <a:solidFill>
                  <a:srgbClr val="000000"/>
                </a:solidFill>
                <a:latin typeface="Arial"/>
              </a:endParaRPr>
            </a:p>
          </p:txBody>
        </p:sp>
        <p:sp>
          <p:nvSpPr>
            <p:cNvPr id="20" name="Straight Connector 6"/>
            <p:cNvSpPr/>
            <p:nvPr/>
          </p:nvSpPr>
          <p:spPr>
            <a:xfrm>
              <a:off x="1060560" y="5107680"/>
              <a:ext cx="12745800" cy="0"/>
            </a:xfrm>
            <a:prstGeom prst="line">
              <a:avLst/>
            </a:prstGeom>
            <a:ln w="12600">
              <a:solidFill>
                <a:srgbClr val="006684"/>
              </a:solidFill>
              <a:miter/>
            </a:ln>
          </p:spPr>
          <p:style>
            <a:lnRef idx="0"/>
            <a:fillRef idx="0"/>
            <a:effectRef idx="0"/>
            <a:fontRef idx="minor"/>
          </p:style>
          <p:txBody>
            <a:bodyPr lIns="90000" rIns="90000" tIns="-46800" bIns="-46800" anchor="t">
              <a:noAutofit/>
            </a:bodyPr>
            <a:p>
              <a:endParaRPr b="0" lang="en-US" sz="2300" spc="-1" strike="noStrike">
                <a:solidFill>
                  <a:srgbClr val="000000"/>
                </a:solidFill>
                <a:latin typeface="Arial"/>
              </a:endParaRPr>
            </a:p>
          </p:txBody>
        </p:sp>
      </p:grpSp>
      <p:sp>
        <p:nvSpPr>
          <p:cNvPr id="21" name="Rectangle 24"/>
          <p:cNvSpPr/>
          <p:nvPr/>
        </p:nvSpPr>
        <p:spPr>
          <a:xfrm>
            <a:off x="952560" y="6154560"/>
            <a:ext cx="12936600" cy="728640"/>
          </a:xfrm>
          <a:prstGeom prst="rect">
            <a:avLst/>
          </a:prstGeom>
          <a:noFill/>
          <a:ln w="0">
            <a:noFill/>
          </a:ln>
        </p:spPr>
        <p:style>
          <a:lnRef idx="0"/>
          <a:fillRef idx="0"/>
          <a:effectRef idx="0"/>
          <a:fontRef idx="minor"/>
        </p:style>
        <p:txBody>
          <a:bodyPr lIns="90000" rIns="90000" tIns="46800" bIns="46800" anchor="t">
            <a:spAutoFit/>
          </a:bodyPr>
          <a:p>
            <a:pPr>
              <a:lnSpc>
                <a:spcPts val="5000"/>
              </a:lnSpc>
            </a:pPr>
            <a:r>
              <a:rPr b="0" lang="en-GB" sz="3600" spc="-1" strike="noStrike">
                <a:solidFill>
                  <a:srgbClr val="000000"/>
                </a:solidFill>
                <a:latin typeface="Arial"/>
                <a:ea typeface="Arial"/>
              </a:rPr>
              <a:t xml:space="preserve">Computer vision is a branch of artificial intelligence that enables machines to interpret and understand images and videos (Szeliski, 2022). To a computer, an image is a grid of tiny squares called pixels, each storing a number that represents its colour or brightness. A camera first captures the scene; an AI model, typically a Convolutional Neural Network (CNN), then identifies patterns such as edges, shapes and objects, and finally produces a meaningful output, such as recognising a face (Szeliski, 2022).</a:t>
            </a:r>
            <a:endParaRPr b="0" lang="en-GB" sz="3600" spc="-1" strike="noStrike">
              <a:solidFill>
                <a:srgbClr val="000000"/>
              </a:solidFill>
              <a:latin typeface="Arial"/>
            </a:endParaRPr>
          </a:p>
          <a:p>
            <a:pPr>
              <a:lnSpc>
                <a:spcPts val="5000"/>
              </a:lnSpc>
              <a:spcBef>
                <a:spcPts val="1800"/>
              </a:spcBef>
            </a:pPr>
            <a:r>
              <a:rPr b="0" lang="en-GB" sz="3600" spc="-1" strike="noStrike">
                <a:solidFill>
                  <a:srgbClr val="000000"/>
                </a:solidFill>
                <a:latin typeface="Arial"/>
                <a:ea typeface="Arial"/>
              </a:rPr>
              <a:t xml:space="preserve">The field emerged at MIT in the 1960s, when researchers first attempted to teach computers to perceive three-dimensional objects (Roberts, 1963). In the 1990s, CNNs learned to read handwritten digits (LeCun et al., 1998), and in 2012 deep learning dramatically improved object recognition (Krizhevsky, Sutskever and Hinton, 2012).</a:t>
            </a:r>
            <a:endParaRPr b="0" lang="en-GB" sz="3600" spc="-1" strike="noStrike">
              <a:solidFill>
                <a:srgbClr val="000000"/>
              </a:solidFill>
              <a:latin typeface="Arial"/>
            </a:endParaRPr>
          </a:p>
          <a:p>
            <a:pPr>
              <a:lnSpc>
                <a:spcPts val="5000"/>
              </a:lnSpc>
              <a:spcBef>
                <a:spcPts val="1800"/>
              </a:spcBef>
            </a:pPr>
            <a:r>
              <a:rPr b="0" lang="en-GB" sz="3600" spc="-1" strike="noStrike">
                <a:solidFill>
                  <a:srgbClr val="000000"/>
                </a:solidFill>
                <a:latin typeface="Arial"/>
                <a:ea typeface="Arial"/>
              </a:rPr>
              <a:t xml:space="preserve">Key applications include:</a:t>
            </a:r>
            <a:endParaRPr b="0" lang="en-GB" sz="3600" spc="-1" strike="noStrike">
              <a:solidFill>
                <a:srgbClr val="000000"/>
              </a:solidFill>
              <a:latin typeface="Arial"/>
            </a:endParaRPr>
          </a:p>
          <a:p>
            <a:pPr marL="457200" indent="-457200">
              <a:lnSpc>
                <a:spcPts val="5000"/>
              </a:lnSpc>
              <a:spcBef>
                <a:spcPts val="1200"/>
              </a:spcBef>
              <a:buClr>
                <a:srgbClr val="000000"/>
              </a:buClr>
              <a:buFont typeface="Arial"/>
              <a:buChar char="•"/>
            </a:pPr>
            <a:r>
              <a:rPr b="0" lang="en-GB" sz="3600" spc="-1" strike="noStrike">
                <a:solidFill>
                  <a:srgbClr val="000000"/>
                </a:solidFill>
                <a:latin typeface="Arial"/>
                <a:ea typeface="Arial"/>
              </a:rPr>
              <a:t xml:space="preserve">Facial recognition and smartphone unlocking</a:t>
            </a:r>
            <a:endParaRPr b="0" lang="en-GB" sz="3600" spc="-1" strike="noStrike">
              <a:solidFill>
                <a:srgbClr val="000000"/>
              </a:solidFill>
              <a:latin typeface="Arial"/>
            </a:endParaRPr>
          </a:p>
          <a:p>
            <a:pPr marL="457200" indent="-457200">
              <a:lnSpc>
                <a:spcPts val="5000"/>
              </a:lnSpc>
              <a:spcBef>
                <a:spcPts val="1200"/>
              </a:spcBef>
              <a:buClr>
                <a:srgbClr val="000000"/>
              </a:buClr>
              <a:buFont typeface="Arial"/>
              <a:buChar char="•"/>
            </a:pPr>
            <a:r>
              <a:rPr b="0" lang="en-GB" sz="3600" spc="-1" strike="noStrike">
                <a:solidFill>
                  <a:srgbClr val="000000"/>
                </a:solidFill>
                <a:latin typeface="Arial"/>
                <a:ea typeface="Arial"/>
              </a:rPr>
              <a:t xml:space="preserve">Self-driving cars</a:t>
            </a:r>
            <a:endParaRPr b="0" lang="en-GB" sz="3600" spc="-1" strike="noStrike">
              <a:solidFill>
                <a:srgbClr val="000000"/>
              </a:solidFill>
              <a:latin typeface="Arial"/>
            </a:endParaRPr>
          </a:p>
          <a:p>
            <a:pPr marL="457200" indent="-457200">
              <a:lnSpc>
                <a:spcPts val="5000"/>
              </a:lnSpc>
              <a:spcBef>
                <a:spcPts val="1200"/>
              </a:spcBef>
              <a:buClr>
                <a:srgbClr val="000000"/>
              </a:buClr>
              <a:buFont typeface="Arial"/>
              <a:buChar char="•"/>
            </a:pPr>
            <a:r>
              <a:rPr b="0" lang="en-GB" sz="3600" spc="-1" strike="noStrike">
                <a:solidFill>
                  <a:srgbClr val="000000"/>
                </a:solidFill>
                <a:latin typeface="Arial"/>
                <a:ea typeface="Arial"/>
              </a:rPr>
              <a:t xml:space="preserve">Intelligent security cameras</a:t>
            </a:r>
            <a:endParaRPr b="0" lang="en-GB" sz="3600" spc="-1" strike="noStrike">
              <a:solidFill>
                <a:srgbClr val="000000"/>
              </a:solidFill>
              <a:latin typeface="Arial"/>
            </a:endParaRPr>
          </a:p>
          <a:p>
            <a:pPr marL="457200" indent="-457200">
              <a:lnSpc>
                <a:spcPts val="5000"/>
              </a:lnSpc>
              <a:spcBef>
                <a:spcPts val="1200"/>
              </a:spcBef>
              <a:buClr>
                <a:srgbClr val="000000"/>
              </a:buClr>
              <a:buFont typeface="Arial"/>
              <a:buChar char="•"/>
            </a:pPr>
            <a:r>
              <a:rPr b="0" lang="en-GB" sz="3600" spc="-1" strike="noStrike">
                <a:solidFill>
                  <a:srgbClr val="000000"/>
                </a:solidFill>
                <a:latin typeface="Arial"/>
                <a:ea typeface="Arial"/>
              </a:rPr>
              <a:t xml:space="preserve">Medical imaging and skin-cancer detection (Esteva et al., 2017)</a:t>
            </a:r>
            <a:endParaRPr b="0" lang="en-GB" sz="3600" spc="-1" strike="noStrike">
              <a:solidFill>
                <a:srgbClr val="000000"/>
              </a:solidFill>
              <a:latin typeface="Arial"/>
            </a:endParaRPr>
          </a:p>
        </p:txBody>
      </p:sp>
      <p:sp>
        <p:nvSpPr>
          <p:cNvPr id="23" name="Rectangle 20"/>
          <p:cNvSpPr/>
          <p:nvPr/>
        </p:nvSpPr>
        <p:spPr>
          <a:xfrm>
            <a:off x="28943280" y="14419440"/>
            <a:ext cx="12787200" cy="46188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300" spc="-1" strike="noStrike">
              <a:solidFill>
                <a:srgbClr val="000000"/>
              </a:solidFill>
              <a:latin typeface="Arial"/>
            </a:endParaRPr>
          </a:p>
        </p:txBody>
      </p:sp>
      <p:sp>
        <p:nvSpPr>
          <p:cNvPr id="24" name="Rectangle 20"/>
          <p:cNvSpPr/>
          <p:nvPr/>
        </p:nvSpPr>
        <p:spPr>
          <a:xfrm>
            <a:off x="15017760" y="28150000"/>
            <a:ext cx="12787200" cy="525600"/>
          </a:xfrm>
          <a:prstGeom prst="rect">
            <a:avLst/>
          </a:prstGeom>
          <a:noFill/>
          <a:ln w="0">
            <a:noFill/>
          </a:ln>
        </p:spPr>
        <p:style>
          <a:lnRef idx="0"/>
          <a:fillRef idx="0"/>
          <a:effectRef idx="0"/>
          <a:fontRef idx="minor"/>
        </p:style>
        <p:txBody>
          <a:bodyPr lIns="90000" rIns="90000" tIns="46800" bIns="46800" anchor="t">
            <a:spAutoFit/>
          </a:bodyPr>
          <a:p>
            <a:pPr>
              <a:lnSpc>
                <a:spcPts val="3399"/>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2400" spc="-1" strike="noStrike">
                <a:solidFill>
                  <a:srgbClr val="000000"/>
                </a:solidFill>
                <a:latin typeface="Arial"/>
                <a:ea typeface="Arial"/>
              </a:rPr>
              <a:t>Fig. 2</a:t>
            </a:r>
            <a:r>
              <a:rPr b="0" lang="en-GB" sz="2400" spc="-1" strike="noStrike">
                <a:solidFill>
                  <a:srgbClr val="000000"/>
                </a:solidFill>
                <a:latin typeface="Arial"/>
                <a:ea typeface="Arial"/>
              </a:rPr>
              <a:t> Facial recognition matching a face to an identity database (own illustration)</a:t>
            </a:r>
            <a:endParaRPr b="0" lang="en-US" sz="2400" spc="-1" strike="noStrike">
              <a:solidFill>
                <a:srgbClr val="000000"/>
              </a:solidFill>
              <a:latin typeface="Arial"/>
            </a:endParaRPr>
          </a:p>
        </p:txBody>
      </p:sp>
      <p:sp>
        <p:nvSpPr>
          <p:cNvPr id="25" name="Rectangle 30"/>
          <p:cNvSpPr/>
          <p:nvPr/>
        </p:nvSpPr>
        <p:spPr>
          <a:xfrm>
            <a:off x="15109920" y="24000000"/>
            <a:ext cx="517320" cy="64620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300" spc="-1" strike="noStrike">
              <a:solidFill>
                <a:srgbClr val="000000"/>
              </a:solidFill>
              <a:latin typeface="Arial"/>
            </a:endParaRPr>
          </a:p>
        </p:txBody>
      </p:sp>
      <p:sp>
        <p:nvSpPr>
          <p:cNvPr id="27" name="Rectangle 102"/>
          <p:cNvSpPr/>
          <p:nvPr/>
        </p:nvSpPr>
        <p:spPr>
          <a:xfrm>
            <a:off x="15109920" y="26000000"/>
            <a:ext cx="517320" cy="64764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300" spc="-1" strike="noStrike">
              <a:solidFill>
                <a:srgbClr val="000000"/>
              </a:solidFill>
              <a:latin typeface="Arial"/>
            </a:endParaRPr>
          </a:p>
        </p:txBody>
      </p:sp>
      <p:sp>
        <p:nvSpPr>
          <p:cNvPr id="28" name="Rectangle 106"/>
          <p:cNvSpPr/>
          <p:nvPr/>
        </p:nvSpPr>
        <p:spPr>
          <a:xfrm>
            <a:off x="28943280" y="6221520"/>
            <a:ext cx="12787200" cy="3876480"/>
          </a:xfrm>
          <a:prstGeom prst="rect">
            <a:avLst/>
          </a:prstGeom>
          <a:noFill/>
          <a:ln w="0">
            <a:noFill/>
          </a:ln>
        </p:spPr>
        <p:style>
          <a:lnRef idx="0"/>
          <a:fillRef idx="0"/>
          <a:effectRef idx="0"/>
          <a:fontRef idx="minor"/>
        </p:style>
        <p:txBody>
          <a:bodyPr lIns="90000" rIns="90000" tIns="46800" bIns="46800" anchor="t">
            <a:spAutoFit/>
          </a:bodyPr>
          <a:p>
            <a:pPr>
              <a:lnSpc>
                <a:spcPts val="5000"/>
              </a:lnSpc>
            </a:pPr>
            <a:r>
              <a:rPr b="0" lang="en-GB" sz="3600" spc="-1" strike="noStrike">
                <a:solidFill>
                  <a:srgbClr val="000000"/>
                </a:solidFill>
                <a:latin typeface="Arial"/>
                <a:ea typeface="Arial"/>
              </a:rPr>
              <a:t xml:space="preserve">In January 2020, Detroit police arrested Robert Williams, a Black man, at his home in front of his family (Hill, 2020). A facial recognition system had wrongly matched his driving licence photo to CCTV footage of a shoplifting incident, and he was detained overnight for a crime he did not commit.</a:t>
            </a:r>
            <a:endParaRPr b="0" lang="en-GB" sz="3600" spc="-1" strike="noStrike">
              <a:solidFill>
                <a:srgbClr val="000000"/>
              </a:solidFill>
              <a:latin typeface="Arial"/>
            </a:endParaRPr>
          </a:p>
          <a:p>
            <a:pPr>
              <a:lnSpc>
                <a:spcPts val="5000"/>
              </a:lnSpc>
              <a:spcBef>
                <a:spcPts val="1800"/>
              </a:spcBef>
            </a:pPr>
            <a:r>
              <a:rPr b="0" lang="en-GB" sz="3600" spc="-1" strike="noStrike">
                <a:solidFill>
                  <a:srgbClr val="000000"/>
                </a:solidFill>
                <a:latin typeface="Arial"/>
                <a:ea typeface="Arial"/>
              </a:rPr>
              <a:t xml:space="preserve">This case illustrates the bias Buolamwini and Gebru (2018) had already warned about. Officers trusted the algorithm without proper human verification, harming an innocent family. In 2024, Detroit agreed to pay $300,000 and banned arrests based solely on facial recognition results (White, 2024). This demonstrates that technology must not replace human judgement.</a:t>
            </a:r>
            <a:endParaRPr b="0" lang="en-GB" sz="3600" spc="-1" strike="noStrike">
              <a:solidFill>
                <a:srgbClr val="000000"/>
              </a:solidFill>
              <a:latin typeface="Arial"/>
            </a:endParaRPr>
          </a:p>
        </p:txBody>
      </p:sp>
      <p:sp>
        <p:nvSpPr>
          <p:cNvPr id="95" name="Rectangle 106"/>
          <p:cNvSpPr/>
          <p:nvPr/>
        </p:nvSpPr>
        <p:spPr>
          <a:xfrm>
            <a:off x="28943280" y="15799560"/>
            <a:ext cx="12787200" cy="3876480"/>
          </a:xfrm>
          <a:prstGeom prst="rect">
            <a:avLst/>
          </a:prstGeom>
          <a:noFill/>
          <a:ln w="0">
            <a:noFill/>
          </a:ln>
        </p:spPr>
        <p:style>
          <a:lnRef idx="0"/>
          <a:fillRef idx="0"/>
          <a:effectRef idx="0"/>
          <a:fontRef idx="minor"/>
        </p:style>
        <p:txBody>
          <a:bodyPr lIns="90000" rIns="90000" tIns="46800" bIns="46800" anchor="t">
            <a:spAutoFit/>
          </a:bodyPr>
          <a:p>
            <a:pPr>
              <a:lnSpc>
                <a:spcPts val="4997"/>
              </a:lnSpc>
              <a:spcBef>
                <a:spcPts val="18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3600" spc="-1" strike="noStrike">
                <a:solidFill>
                  <a:srgbClr val="000000"/>
                </a:solidFill>
                <a:latin typeface="Arial"/>
                <a:ea typeface="Arial"/>
              </a:rPr>
              <a:t>Section 4: Mitigation text here (~90–100 words)</a:t>
            </a:r>
            <a:endParaRPr b="0" lang="en-US" sz="3600" spc="-1" strike="noStrike">
              <a:solidFill>
                <a:srgbClr val="000000"/>
              </a:solidFill>
              <a:latin typeface="Arial"/>
            </a:endParaRPr>
          </a:p>
        </p:txBody>
      </p:sp>
      <p:grpSp>
        <p:nvGrpSpPr>
          <p:cNvPr id="29" name="Group 107"/>
          <p:cNvGrpSpPr/>
          <p:nvPr/>
        </p:nvGrpSpPr>
        <p:grpSpPr>
          <a:xfrm>
            <a:off x="15016320" y="4975200"/>
            <a:ext cx="12885480" cy="1099800"/>
            <a:chOff x="15016320" y="4975200"/>
            <a:chExt cx="12885480" cy="1099800"/>
          </a:xfrm>
        </p:grpSpPr>
        <p:sp>
          <p:nvSpPr>
            <p:cNvPr id="30" name="Rectangle 249"/>
            <p:cNvSpPr/>
            <p:nvPr/>
          </p:nvSpPr>
          <p:spPr>
            <a:xfrm>
              <a:off x="15016320" y="4975200"/>
              <a:ext cx="12885480" cy="109980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6600" spc="-1" strike="noStrike">
                  <a:solidFill>
                    <a:srgbClr val="006684"/>
                  </a:solidFill>
                  <a:latin typeface="Arial"/>
                  <a:ea typeface="Arial"/>
                </a:rPr>
                <a:t>Ethical, Legal &amp; Social Impact</a:t>
              </a:r>
              <a:endParaRPr b="0" lang="en-US" sz="6600" spc="-1" strike="noStrike">
                <a:solidFill>
                  <a:srgbClr val="000000"/>
                </a:solidFill>
                <a:latin typeface="Arial"/>
              </a:endParaRPr>
            </a:p>
          </p:txBody>
        </p:sp>
        <p:sp>
          <p:nvSpPr>
            <p:cNvPr id="31" name="Straight Connector 6"/>
            <p:cNvSpPr/>
            <p:nvPr/>
          </p:nvSpPr>
          <p:spPr>
            <a:xfrm>
              <a:off x="15140880" y="5101560"/>
              <a:ext cx="12744000" cy="0"/>
            </a:xfrm>
            <a:prstGeom prst="line">
              <a:avLst/>
            </a:prstGeom>
            <a:ln w="12600">
              <a:solidFill>
                <a:srgbClr val="006684"/>
              </a:solidFill>
              <a:miter/>
            </a:ln>
          </p:spPr>
          <p:style>
            <a:lnRef idx="0"/>
            <a:fillRef idx="0"/>
            <a:effectRef idx="0"/>
            <a:fontRef idx="minor"/>
          </p:style>
          <p:txBody>
            <a:bodyPr lIns="90000" rIns="90000" tIns="-46800" bIns="-46800" anchor="t">
              <a:noAutofit/>
            </a:bodyPr>
            <a:p>
              <a:endParaRPr b="0" lang="en-US" sz="2300" spc="-1" strike="noStrike">
                <a:solidFill>
                  <a:srgbClr val="000000"/>
                </a:solidFill>
                <a:latin typeface="Arial"/>
              </a:endParaRPr>
            </a:p>
          </p:txBody>
        </p:sp>
      </p:grpSp>
      <p:sp>
        <p:nvSpPr>
          <p:cNvPr id="32" name="Rectangle 20"/>
          <p:cNvSpPr/>
          <p:nvPr/>
        </p:nvSpPr>
        <p:spPr>
          <a:xfrm>
            <a:off x="28946520" y="21700000"/>
            <a:ext cx="12306240" cy="804960"/>
          </a:xfrm>
          <a:prstGeom prst="rect">
            <a:avLst/>
          </a:prstGeom>
          <a:noFill/>
          <a:ln w="0">
            <a:noFill/>
          </a:ln>
        </p:spPr>
        <p:style>
          <a:lnRef idx="0"/>
          <a:fillRef idx="0"/>
          <a:effectRef idx="0"/>
          <a:fontRef idx="minor"/>
        </p:style>
        <p:txBody>
          <a:bodyPr lIns="90000" rIns="90000" tIns="46800" bIns="46800" anchor="t">
            <a:spAutoFit/>
          </a:bodyPr>
          <a:p>
            <a:pPr>
              <a:lnSpc>
                <a:spcPts val="2200"/>
              </a:lnSpc>
              <a:spcAft>
                <a:spcPts val="1199"/>
              </a:spcAft>
            </a:pPr>
            <a:r>
              <a:rPr b="1" lang="en-GB" sz="3600" spc="-1" strike="noStrike">
                <a:solidFill>
                  <a:srgbClr val="000000"/>
                </a:solidFill>
                <a:latin typeface="Arial"/>
                <a:ea typeface="Arial"/>
              </a:rPr>
              <a:t xml:space="preserve">References</a:t>
            </a:r>
            <a:endParaRPr b="0" lang="en-GB" sz="3600" spc="-1" strike="noStrike">
              <a:solidFill>
                <a:srgbClr val="000000"/>
              </a:solidFill>
              <a:latin typeface="Arial"/>
            </a:endParaRPr>
          </a:p>
          <a:p>
            <a:pPr>
              <a:lnSpc>
                <a:spcPts val="2200"/>
              </a:lnSpc>
              <a:spcAft>
                <a:spcPts val="600"/>
              </a:spcAft>
            </a:pPr>
            <a:r>
              <a:rPr b="0" lang="en-GB" sz="1500" spc="-1" strike="noStrike">
                <a:solidFill>
                  <a:srgbClr val="000000"/>
                </a:solidFill>
                <a:latin typeface="Arial"/>
                <a:ea typeface="Arial"/>
              </a:rPr>
              <a:t xml:space="preserve">Buolamwini, J. and Gebru, T. (2018) ‘Gender shades: intersectional accuracy disparities in commercial gender classification’, </a:t>
            </a:r>
            <a:r>
              <a:rPr b="0" i="1" lang="en-GB" sz="1500" spc="-1" strike="noStrike">
                <a:solidFill>
                  <a:srgbClr val="000000"/>
                </a:solidFill>
                <a:latin typeface="Arial"/>
                <a:ea typeface="Arial"/>
              </a:rPr>
              <a:t xml:space="preserve">Proceedings of the 1st Conference on Fairness, Accountability and Transparency</a:t>
            </a:r>
            <a:r>
              <a:rPr b="0" lang="en-GB" sz="1500" spc="-1" strike="noStrike">
                <a:solidFill>
                  <a:srgbClr val="000000"/>
                </a:solidFill>
                <a:latin typeface="Arial"/>
                <a:ea typeface="Arial"/>
              </a:rPr>
              <a:t xml:space="preserve">, PMLR 81, pp. 77–91.</a:t>
            </a:r>
            <a:endParaRPr b="0" lang="en-GB" sz="1500" spc="-1" strike="noStrike">
              <a:solidFill>
                <a:srgbClr val="000000"/>
              </a:solidFill>
              <a:latin typeface="Arial"/>
            </a:endParaRPr>
          </a:p>
          <a:p>
            <a:pPr>
              <a:lnSpc>
                <a:spcPts val="2200"/>
              </a:lnSpc>
              <a:spcAft>
                <a:spcPts val="600"/>
              </a:spcAft>
            </a:pPr>
            <a:r>
              <a:rPr b="0" lang="en-GB" sz="1500" spc="-1" strike="noStrike">
                <a:solidFill>
                  <a:srgbClr val="000000"/>
                </a:solidFill>
                <a:latin typeface="Arial"/>
                <a:ea typeface="Arial"/>
              </a:rPr>
              <a:t xml:space="preserve">Esteva, A., Kuprel, B., Novoa, R.A., Ko, J., Swetter, S.M., Blau, H.M. and Thrun, S. (2017) ‘Dermatologist-level classification of skin cancer with deep neural networks’, </a:t>
            </a:r>
            <a:r>
              <a:rPr b="0" i="1" lang="en-GB" sz="1500" spc="-1" strike="noStrike">
                <a:solidFill>
                  <a:srgbClr val="000000"/>
                </a:solidFill>
                <a:latin typeface="Arial"/>
                <a:ea typeface="Arial"/>
              </a:rPr>
              <a:t xml:space="preserve">Nature</a:t>
            </a:r>
            <a:r>
              <a:rPr b="0" lang="en-GB" sz="1500" spc="-1" strike="noStrike">
                <a:solidFill>
                  <a:srgbClr val="000000"/>
                </a:solidFill>
                <a:latin typeface="Arial"/>
                <a:ea typeface="Arial"/>
              </a:rPr>
              <a:t xml:space="preserve">, 542(7639), pp. 115–118.</a:t>
            </a:r>
            <a:endParaRPr b="0" lang="en-GB" sz="1500" spc="-1" strike="noStrike">
              <a:solidFill>
                <a:srgbClr val="000000"/>
              </a:solidFill>
              <a:latin typeface="Arial"/>
            </a:endParaRPr>
          </a:p>
          <a:p>
            <a:pPr>
              <a:lnSpc>
                <a:spcPts val="2200"/>
              </a:lnSpc>
              <a:spcAft>
                <a:spcPts val="600"/>
              </a:spcAft>
            </a:pPr>
            <a:r>
              <a:rPr b="0" lang="en-GB" sz="1500" spc="-1" strike="noStrike">
                <a:solidFill>
                  <a:srgbClr val="000000"/>
                </a:solidFill>
                <a:latin typeface="Arial"/>
                <a:ea typeface="Arial"/>
              </a:rPr>
              <a:t xml:space="preserve">European Union (2016) </a:t>
            </a:r>
            <a:r>
              <a:rPr b="0" i="1" lang="en-GB" sz="1500" spc="-1" strike="noStrike">
                <a:solidFill>
                  <a:srgbClr val="000000"/>
                </a:solidFill>
                <a:latin typeface="Arial"/>
                <a:ea typeface="Arial"/>
              </a:rPr>
              <a:t xml:space="preserve">Regulation (EU) 2016/679 of the European Parliament and of the Council of 27 April 2016 (General Data Protection Regulation)</a:t>
            </a:r>
            <a:r>
              <a:rPr b="0" lang="en-GB" sz="1500" spc="-1" strike="noStrike">
                <a:solidFill>
                  <a:srgbClr val="000000"/>
                </a:solidFill>
                <a:latin typeface="Arial"/>
                <a:ea typeface="Arial"/>
              </a:rPr>
              <a:t xml:space="preserve">. Official Journal of the European Union, L 119, pp. 1–88.</a:t>
            </a:r>
            <a:endParaRPr b="0" lang="en-GB" sz="1500" spc="-1" strike="noStrike">
              <a:solidFill>
                <a:srgbClr val="000000"/>
              </a:solidFill>
              <a:latin typeface="Arial"/>
            </a:endParaRPr>
          </a:p>
          <a:p>
            <a:pPr>
              <a:lnSpc>
                <a:spcPts val="2200"/>
              </a:lnSpc>
              <a:spcAft>
                <a:spcPts val="600"/>
              </a:spcAft>
            </a:pPr>
            <a:r>
              <a:rPr b="0" lang="en-GB" sz="1500" spc="-1" strike="noStrike">
                <a:solidFill>
                  <a:srgbClr val="000000"/>
                </a:solidFill>
                <a:latin typeface="Arial"/>
                <a:ea typeface="Arial"/>
              </a:rPr>
              <a:t xml:space="preserve">European Union (2024) </a:t>
            </a:r>
            <a:r>
              <a:rPr b="0" i="1" lang="en-GB" sz="1500" spc="-1" strike="noStrike">
                <a:solidFill>
                  <a:srgbClr val="000000"/>
                </a:solidFill>
                <a:latin typeface="Arial"/>
                <a:ea typeface="Arial"/>
              </a:rPr>
              <a:t xml:space="preserve">Regulation (EU) 2024/1689 of the European Parliament and of the Council of 13 June 2024 laying down harmonised rules on artificial intelligence (Artificial Intelligence Act)</a:t>
            </a:r>
            <a:r>
              <a:rPr b="0" lang="en-GB" sz="1500" spc="-1" strike="noStrike">
                <a:solidFill>
                  <a:srgbClr val="000000"/>
                </a:solidFill>
                <a:latin typeface="Arial"/>
                <a:ea typeface="Arial"/>
              </a:rPr>
              <a:t xml:space="preserve">. Official Journal of the European Union, L series, 12 July.</a:t>
            </a:r>
            <a:endParaRPr b="0" lang="en-GB" sz="1500" spc="-1" strike="noStrike">
              <a:solidFill>
                <a:srgbClr val="000000"/>
              </a:solidFill>
              <a:latin typeface="Arial"/>
            </a:endParaRPr>
          </a:p>
          <a:p>
            <a:pPr>
              <a:lnSpc>
                <a:spcPts val="2200"/>
              </a:lnSpc>
              <a:spcAft>
                <a:spcPts val="600"/>
              </a:spcAft>
            </a:pPr>
            <a:r>
              <a:rPr b="0" lang="en-GB" sz="1500" spc="-1" strike="noStrike">
                <a:solidFill>
                  <a:srgbClr val="000000"/>
                </a:solidFill>
                <a:latin typeface="Arial"/>
                <a:ea typeface="Arial"/>
              </a:rPr>
              <a:t xml:space="preserve">Hill, K. (2020) ‘Wrongfully accused by an algorithm’, </a:t>
            </a:r>
            <a:r>
              <a:rPr b="0" i="1" lang="en-GB" sz="1500" spc="-1" strike="noStrike">
                <a:solidFill>
                  <a:srgbClr val="000000"/>
                </a:solidFill>
                <a:latin typeface="Arial"/>
                <a:ea typeface="Arial"/>
              </a:rPr>
              <a:t xml:space="preserve">The New York Times</a:t>
            </a:r>
            <a:r>
              <a:rPr b="0" lang="en-GB" sz="1500" spc="-1" strike="noStrike">
                <a:solidFill>
                  <a:srgbClr val="000000"/>
                </a:solidFill>
                <a:latin typeface="Arial"/>
                <a:ea typeface="Arial"/>
              </a:rPr>
              <a:t xml:space="preserve">, 24 June. Available at: https://www.nytimes.com/2020/06/24/technology/facial-recognition-arrest.html (Accessed: 16 October 2026).</a:t>
            </a:r>
            <a:endParaRPr b="0" lang="en-GB" sz="1500" spc="-1" strike="noStrike">
              <a:solidFill>
                <a:srgbClr val="000000"/>
              </a:solidFill>
              <a:latin typeface="Arial"/>
            </a:endParaRPr>
          </a:p>
          <a:p>
            <a:pPr>
              <a:lnSpc>
                <a:spcPts val="2200"/>
              </a:lnSpc>
              <a:spcAft>
                <a:spcPts val="600"/>
              </a:spcAft>
            </a:pPr>
            <a:r>
              <a:rPr b="0" lang="en-GB" sz="1500" spc="-1" strike="noStrike">
                <a:solidFill>
                  <a:srgbClr val="000000"/>
                </a:solidFill>
                <a:latin typeface="Arial"/>
                <a:ea typeface="Arial"/>
              </a:rPr>
              <a:t xml:space="preserve">Krizhevsky, A., Sutskever, I. and Hinton, G.E. (2012) ‘ImageNet classification with deep convolutional neural networks’, </a:t>
            </a:r>
            <a:r>
              <a:rPr b="0" i="1" lang="en-GB" sz="1500" spc="-1" strike="noStrike">
                <a:solidFill>
                  <a:srgbClr val="000000"/>
                </a:solidFill>
                <a:latin typeface="Arial"/>
                <a:ea typeface="Arial"/>
              </a:rPr>
              <a:t xml:space="preserve">Advances in Neural Information Processing Systems</a:t>
            </a:r>
            <a:r>
              <a:rPr b="0" lang="en-GB" sz="1500" spc="-1" strike="noStrike">
                <a:solidFill>
                  <a:srgbClr val="000000"/>
                </a:solidFill>
                <a:latin typeface="Arial"/>
                <a:ea typeface="Arial"/>
              </a:rPr>
              <a:t xml:space="preserve">, 25, pp. 1097–1105.</a:t>
            </a:r>
            <a:endParaRPr b="0" lang="en-GB" sz="1500" spc="-1" strike="noStrike">
              <a:solidFill>
                <a:srgbClr val="000000"/>
              </a:solidFill>
              <a:latin typeface="Arial"/>
            </a:endParaRPr>
          </a:p>
          <a:p>
            <a:pPr>
              <a:lnSpc>
                <a:spcPts val="2200"/>
              </a:lnSpc>
              <a:spcAft>
                <a:spcPts val="600"/>
              </a:spcAft>
            </a:pPr>
            <a:r>
              <a:rPr b="0" lang="en-GB" sz="1500" spc="-1" strike="noStrike">
                <a:solidFill>
                  <a:srgbClr val="000000"/>
                </a:solidFill>
                <a:latin typeface="Arial"/>
                <a:ea typeface="Arial"/>
              </a:rPr>
              <a:t xml:space="preserve">LeCun, Y., Bottou, L., Bengio, Y. and Haffner, P. (1998) ‘Gradient-based learning applied to document recognition’, </a:t>
            </a:r>
            <a:r>
              <a:rPr b="0" i="1" lang="en-GB" sz="1500" spc="-1" strike="noStrike">
                <a:solidFill>
                  <a:srgbClr val="000000"/>
                </a:solidFill>
                <a:latin typeface="Arial"/>
                <a:ea typeface="Arial"/>
              </a:rPr>
              <a:t xml:space="preserve">Proceedings of the IEEE</a:t>
            </a:r>
            <a:r>
              <a:rPr b="0" lang="en-GB" sz="1500" spc="-1" strike="noStrike">
                <a:solidFill>
                  <a:srgbClr val="000000"/>
                </a:solidFill>
                <a:latin typeface="Arial"/>
                <a:ea typeface="Arial"/>
              </a:rPr>
              <a:t xml:space="preserve">, 86(11), pp. 2278–2324.</a:t>
            </a:r>
            <a:endParaRPr b="0" lang="en-GB" sz="1500" spc="-1" strike="noStrike">
              <a:solidFill>
                <a:srgbClr val="000000"/>
              </a:solidFill>
              <a:latin typeface="Arial"/>
            </a:endParaRPr>
          </a:p>
          <a:p>
            <a:pPr>
              <a:lnSpc>
                <a:spcPts val="2200"/>
              </a:lnSpc>
              <a:spcAft>
                <a:spcPts val="600"/>
              </a:spcAft>
            </a:pPr>
            <a:r>
              <a:rPr b="0" lang="en-GB" sz="1500" spc="-1" strike="noStrike">
                <a:solidFill>
                  <a:srgbClr val="000000"/>
                </a:solidFill>
                <a:latin typeface="Arial"/>
                <a:ea typeface="Arial"/>
              </a:rPr>
              <a:t xml:space="preserve">Manduchi, R. and Coughlan, J. (2012) ‘(Computer) vision without sight’, </a:t>
            </a:r>
            <a:r>
              <a:rPr b="0" i="1" lang="en-GB" sz="1500" spc="-1" strike="noStrike">
                <a:solidFill>
                  <a:srgbClr val="000000"/>
                </a:solidFill>
                <a:latin typeface="Arial"/>
                <a:ea typeface="Arial"/>
              </a:rPr>
              <a:t xml:space="preserve">Communications of the ACM</a:t>
            </a:r>
            <a:r>
              <a:rPr b="0" lang="en-GB" sz="1500" spc="-1" strike="noStrike">
                <a:solidFill>
                  <a:srgbClr val="000000"/>
                </a:solidFill>
                <a:latin typeface="Arial"/>
                <a:ea typeface="Arial"/>
              </a:rPr>
              <a:t xml:space="preserve">, 55(1), pp. 96–104.</a:t>
            </a:r>
            <a:endParaRPr b="0" lang="en-GB" sz="1500" spc="-1" strike="noStrike">
              <a:solidFill>
                <a:srgbClr val="000000"/>
              </a:solidFill>
              <a:latin typeface="Arial"/>
            </a:endParaRPr>
          </a:p>
          <a:p>
            <a:pPr>
              <a:lnSpc>
                <a:spcPts val="2200"/>
              </a:lnSpc>
              <a:spcAft>
                <a:spcPts val="600"/>
              </a:spcAft>
            </a:pPr>
            <a:r>
              <a:rPr b="0" lang="en-GB" sz="1500" spc="-1" strike="noStrike">
                <a:solidFill>
                  <a:srgbClr val="000000"/>
                </a:solidFill>
                <a:latin typeface="Arial"/>
                <a:ea typeface="Arial"/>
              </a:rPr>
              <a:t xml:space="preserve">Roberts, L.G. (1963) </a:t>
            </a:r>
            <a:r>
              <a:rPr b="0" i="1" lang="en-GB" sz="1500" spc="-1" strike="noStrike">
                <a:solidFill>
                  <a:srgbClr val="000000"/>
                </a:solidFill>
                <a:latin typeface="Arial"/>
                <a:ea typeface="Arial"/>
              </a:rPr>
              <a:t xml:space="preserve">Machine perception of three-dimensional solids</a:t>
            </a:r>
            <a:r>
              <a:rPr b="0" lang="en-GB" sz="1500" spc="-1" strike="noStrike">
                <a:solidFill>
                  <a:srgbClr val="000000"/>
                </a:solidFill>
                <a:latin typeface="Arial"/>
                <a:ea typeface="Arial"/>
              </a:rPr>
              <a:t xml:space="preserve">. PhD thesis. Massachusetts Institute of Technology.</a:t>
            </a:r>
            <a:endParaRPr b="0" lang="en-GB" sz="1500" spc="-1" strike="noStrike">
              <a:solidFill>
                <a:srgbClr val="000000"/>
              </a:solidFill>
              <a:latin typeface="Arial"/>
            </a:endParaRPr>
          </a:p>
          <a:p>
            <a:pPr>
              <a:lnSpc>
                <a:spcPts val="2200"/>
              </a:lnSpc>
              <a:spcAft>
                <a:spcPts val="600"/>
              </a:spcAft>
            </a:pPr>
            <a:r>
              <a:rPr b="0" lang="en-GB" sz="1500" spc="-1" strike="noStrike">
                <a:solidFill>
                  <a:srgbClr val="000000"/>
                </a:solidFill>
                <a:latin typeface="Arial"/>
                <a:ea typeface="Arial"/>
              </a:rPr>
              <a:t xml:space="preserve">Szeliski, R. (2022) </a:t>
            </a:r>
            <a:r>
              <a:rPr b="0" i="1" lang="en-GB" sz="1500" spc="-1" strike="noStrike">
                <a:solidFill>
                  <a:srgbClr val="000000"/>
                </a:solidFill>
                <a:latin typeface="Arial"/>
                <a:ea typeface="Arial"/>
              </a:rPr>
              <a:t xml:space="preserve">Computer vision: algorithms and applications</a:t>
            </a:r>
            <a:r>
              <a:rPr b="0" lang="en-GB" sz="1500" spc="-1" strike="noStrike">
                <a:solidFill>
                  <a:srgbClr val="000000"/>
                </a:solidFill>
                <a:latin typeface="Arial"/>
                <a:ea typeface="Arial"/>
              </a:rPr>
              <a:t xml:space="preserve">. 2nd edn. Cham: Springer.</a:t>
            </a:r>
            <a:endParaRPr b="0" lang="en-GB" sz="1500" spc="-1" strike="noStrike">
              <a:solidFill>
                <a:srgbClr val="000000"/>
              </a:solidFill>
              <a:latin typeface="Arial"/>
            </a:endParaRPr>
          </a:p>
          <a:p>
            <a:pPr>
              <a:lnSpc>
                <a:spcPts val="2200"/>
              </a:lnSpc>
              <a:spcAft>
                <a:spcPts val="600"/>
              </a:spcAft>
            </a:pPr>
            <a:r>
              <a:rPr b="0" lang="en-GB" sz="1500" spc="-1" strike="noStrike">
                <a:solidFill>
                  <a:srgbClr val="000000"/>
                </a:solidFill>
                <a:latin typeface="Arial"/>
                <a:ea typeface="Arial"/>
              </a:rPr>
              <a:t xml:space="preserve">White, E. (2024) ‘Detroit paying $300,000 to man wrongly accused of theft, making changes in use of facial technology’, </a:t>
            </a:r>
            <a:r>
              <a:rPr b="0" i="1" lang="en-GB" sz="1500" spc="-1" strike="noStrike">
                <a:solidFill>
                  <a:srgbClr val="000000"/>
                </a:solidFill>
                <a:latin typeface="Arial"/>
                <a:ea typeface="Arial"/>
              </a:rPr>
              <a:t xml:space="preserve">Associated Press</a:t>
            </a:r>
            <a:r>
              <a:rPr b="0" lang="en-GB" sz="1500" spc="-1" strike="noStrike">
                <a:solidFill>
                  <a:srgbClr val="000000"/>
                </a:solidFill>
                <a:latin typeface="Arial"/>
                <a:ea typeface="Arial"/>
              </a:rPr>
              <a:t xml:space="preserve">, 28 June. Available at: https://www.news4jax.com/tech/2024/06/28/detroit-paying-300000-to-man-wrongly-accused-of-theft-making-changes-in-use-of-facial-technology/ (Accessed: 16 October 2026).</a:t>
            </a:r>
            <a:endParaRPr b="0" lang="en-GB" sz="1500" spc="-1" strike="noStrike">
              <a:solidFill>
                <a:srgbClr val="000000"/>
              </a:solidFill>
              <a:latin typeface="Arial"/>
            </a:endParaRPr>
          </a:p>
          <a:p>
            <a:pPr>
              <a:lnSpc>
                <a:spcPts val="2200"/>
              </a:lnSpc>
              <a:spcAft>
                <a:spcPts val="600"/>
              </a:spcAft>
            </a:pPr>
            <a:r>
              <a:rPr b="0" lang="en-GB" sz="1500" spc="-1" strike="noStrike">
                <a:solidFill>
                  <a:srgbClr val="000000"/>
                </a:solidFill>
                <a:latin typeface="Arial"/>
                <a:ea typeface="Arial"/>
              </a:rPr>
              <a:t xml:space="preserve">Zuboff, S. (2019) </a:t>
            </a:r>
            <a:r>
              <a:rPr b="0" i="1" lang="en-GB" sz="1500" spc="-1" strike="noStrike">
                <a:solidFill>
                  <a:srgbClr val="000000"/>
                </a:solidFill>
                <a:latin typeface="Arial"/>
                <a:ea typeface="Arial"/>
              </a:rPr>
              <a:t xml:space="preserve">The age of surveillance capitalism: the fight for a human future at the new frontier of power</a:t>
            </a:r>
            <a:r>
              <a:rPr b="0" lang="en-GB" sz="1500" spc="-1" strike="noStrike">
                <a:solidFill>
                  <a:srgbClr val="000000"/>
                </a:solidFill>
                <a:latin typeface="Arial"/>
                <a:ea typeface="Arial"/>
              </a:rPr>
              <a:t xml:space="preserve">. London: Profile Books.</a:t>
            </a:r>
            <a:endParaRPr b="0" lang="en-GB" sz="1500" spc="-1" strike="noStrike">
              <a:solidFill>
                <a:srgbClr val="000000"/>
              </a:solidFill>
              <a:latin typeface="Arial"/>
            </a:endParaRPr>
          </a:p>
        </p:txBody>
      </p:sp>
      <p:grpSp>
        <p:nvGrpSpPr>
          <p:cNvPr id="33" name="Group 107"/>
          <p:cNvGrpSpPr/>
          <p:nvPr/>
        </p:nvGrpSpPr>
        <p:grpSpPr>
          <a:xfrm>
            <a:off x="28918080" y="4971960"/>
            <a:ext cx="12885480" cy="1099800"/>
            <a:chOff x="28918080" y="4971960"/>
            <a:chExt cx="12885480" cy="1099800"/>
          </a:xfrm>
        </p:grpSpPr>
        <p:sp>
          <p:nvSpPr>
            <p:cNvPr id="34" name="Rectangle 249"/>
            <p:cNvSpPr/>
            <p:nvPr/>
          </p:nvSpPr>
          <p:spPr>
            <a:xfrm>
              <a:off x="28918080" y="4971960"/>
              <a:ext cx="12885480" cy="109980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6600" spc="-1" strike="noStrike">
                  <a:solidFill>
                    <a:srgbClr val="006684"/>
                  </a:solidFill>
                  <a:latin typeface="Arial"/>
                  <a:ea typeface="Arial"/>
                </a:rPr>
                <a:t>Use Case</a:t>
              </a:r>
              <a:endParaRPr b="0" lang="en-US" sz="6600" spc="-1" strike="noStrike">
                <a:solidFill>
                  <a:srgbClr val="000000"/>
                </a:solidFill>
                <a:latin typeface="Arial"/>
              </a:endParaRPr>
            </a:p>
          </p:txBody>
        </p:sp>
        <p:sp>
          <p:nvSpPr>
            <p:cNvPr id="35" name="Straight Connector 6"/>
            <p:cNvSpPr/>
            <p:nvPr/>
          </p:nvSpPr>
          <p:spPr>
            <a:xfrm>
              <a:off x="29042640" y="5098320"/>
              <a:ext cx="12744000" cy="0"/>
            </a:xfrm>
            <a:prstGeom prst="line">
              <a:avLst/>
            </a:prstGeom>
            <a:ln w="12600">
              <a:solidFill>
                <a:srgbClr val="006684"/>
              </a:solidFill>
              <a:miter/>
            </a:ln>
          </p:spPr>
          <p:style>
            <a:lnRef idx="0"/>
            <a:fillRef idx="0"/>
            <a:effectRef idx="0"/>
            <a:fontRef idx="minor"/>
          </p:style>
          <p:txBody>
            <a:bodyPr lIns="90000" rIns="90000" tIns="-46800" bIns="-46800" anchor="t">
              <a:noAutofit/>
            </a:bodyPr>
            <a:p>
              <a:endParaRPr b="0" lang="en-US" sz="2300" spc="-1" strike="noStrike">
                <a:solidFill>
                  <a:srgbClr val="000000"/>
                </a:solidFill>
                <a:latin typeface="Arial"/>
              </a:endParaRPr>
            </a:p>
          </p:txBody>
        </p:sp>
      </p:grpSp>
      <p:grpSp>
        <p:nvGrpSpPr>
          <p:cNvPr id="92" name="Group 107"/>
          <p:cNvGrpSpPr/>
          <p:nvPr/>
        </p:nvGrpSpPr>
        <p:grpSpPr>
          <a:xfrm>
            <a:off x="28918080" y="14550000"/>
            <a:ext cx="12885480" cy="1099800"/>
            <a:chOff x="28918080" y="14550000"/>
            <a:chExt cx="12885480" cy="1099800"/>
          </a:xfrm>
        </p:grpSpPr>
        <p:sp>
          <p:nvSpPr>
            <p:cNvPr id="93" name="Rectangle 249"/>
            <p:cNvSpPr/>
            <p:nvPr/>
          </p:nvSpPr>
          <p:spPr>
            <a:xfrm>
              <a:off x="28918080" y="14550000"/>
              <a:ext cx="12885480" cy="109980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6600" spc="-1" strike="noStrike">
                  <a:solidFill>
                    <a:srgbClr val="006684"/>
                  </a:solidFill>
                  <a:latin typeface="Arial"/>
                  <a:ea typeface="Arial"/>
                </a:rPr>
                <a:t>Mitigation</a:t>
              </a:r>
              <a:endParaRPr b="0" lang="en-US" sz="6600" spc="-1" strike="noStrike">
                <a:solidFill>
                  <a:srgbClr val="000000"/>
                </a:solidFill>
                <a:latin typeface="Arial"/>
              </a:endParaRPr>
            </a:p>
          </p:txBody>
        </p:sp>
        <p:sp>
          <p:nvSpPr>
            <p:cNvPr id="94" name="Straight Connector 6"/>
            <p:cNvSpPr/>
            <p:nvPr/>
          </p:nvSpPr>
          <p:spPr>
            <a:xfrm>
              <a:off x="29042640" y="14676360"/>
              <a:ext cx="12744000" cy="0"/>
            </a:xfrm>
            <a:prstGeom prst="line">
              <a:avLst/>
            </a:prstGeom>
            <a:ln w="12600">
              <a:solidFill>
                <a:srgbClr val="006684"/>
              </a:solidFill>
              <a:miter/>
            </a:ln>
          </p:spPr>
          <p:style>
            <a:lnRef idx="0"/>
            <a:fillRef idx="0"/>
            <a:effectRef idx="0"/>
            <a:fontRef idx="minor"/>
          </p:style>
          <p:txBody>
            <a:bodyPr lIns="90000" rIns="90000" tIns="-46800" bIns="-46800" anchor="t">
              <a:noAutofit/>
            </a:bodyPr>
            <a:p>
              <a:endParaRPr b="0" lang="en-US" sz="2300" spc="-1" strike="noStrike">
                <a:solidFill>
                  <a:srgbClr val="000000"/>
                </a:solidFill>
                <a:latin typeface="Arial"/>
              </a:endParaRPr>
            </a:p>
          </p:txBody>
        </p:sp>
      </p:grpSp>
      <p:sp>
        <p:nvSpPr>
          <p:cNvPr id="36" name="Rectangle 24"/>
          <p:cNvSpPr/>
          <p:nvPr/>
        </p:nvSpPr>
        <p:spPr>
          <a:xfrm>
            <a:off x="14998680" y="6154560"/>
            <a:ext cx="12936600" cy="728640"/>
          </a:xfrm>
          <a:prstGeom prst="rect">
            <a:avLst/>
          </a:prstGeom>
          <a:noFill/>
          <a:ln w="0">
            <a:noFill/>
          </a:ln>
        </p:spPr>
        <p:style>
          <a:lnRef idx="0"/>
          <a:fillRef idx="0"/>
          <a:effectRef idx="0"/>
          <a:fontRef idx="minor"/>
        </p:style>
        <p:txBody>
          <a:bodyPr lIns="90000" rIns="90000" tIns="46800" bIns="46800" anchor="t">
            <a:spAutoFit/>
          </a:bodyPr>
          <a:p>
            <a:pPr>
              <a:lnSpc>
                <a:spcPts val="5000"/>
              </a:lnSpc>
            </a:pPr>
            <a:r>
              <a:rPr b="0" lang="en-GB" sz="3600" spc="-1" strike="noStrike">
                <a:solidFill>
                  <a:srgbClr val="000000"/>
                </a:solidFill>
                <a:latin typeface="Arial"/>
                <a:ea typeface="Arial"/>
              </a:rPr>
              <a:t xml:space="preserve">Computer vision offers significant benefits to society. In healthcare, deep learning models can classify skin cancer with accuracy comparable to dermatologists, supporting earlier diagnosis (Esteva et al., 2017). It also improves safety and accessibility through driver-assistance systems and apps that describe surroundings to visually impaired users (Manduchi and Coughlan, 2012). These benefits suggest that, when used responsibly, the technology can help save lives.</a:t>
            </a:r>
            <a:endParaRPr b="0" lang="en-GB" sz="3600" spc="-1" strike="noStrike">
              <a:solidFill>
                <a:srgbClr val="000000"/>
              </a:solidFill>
              <a:latin typeface="Arial"/>
            </a:endParaRPr>
          </a:p>
          <a:p>
            <a:pPr>
              <a:lnSpc>
                <a:spcPts val="5000"/>
              </a:lnSpc>
              <a:spcBef>
                <a:spcPts val="1800"/>
              </a:spcBef>
            </a:pPr>
            <a:r>
              <a:rPr b="0" lang="en-GB" sz="3600" spc="-1" strike="noStrike">
                <a:solidFill>
                  <a:srgbClr val="000000"/>
                </a:solidFill>
                <a:latin typeface="Arial"/>
                <a:ea typeface="Arial"/>
              </a:rPr>
              <a:t xml:space="preserve">However, it also raises serious ethical concerns. Commercial facial analysis systems misclassified the gender of darker-skinned women up to 34.7% of the time, compared with 0.8% for lighter-skinned men (Buolamwini and Gebru, 2018). If similar errors occur in policing, innocent people could be wrongly suspected. Privacy is another risk: unlike a password, a face cannot be changed, yet it can be tracked without consent. Socially, constant monitoring risks normalising surveillance and weakening personal autonomy (Zuboff, 2019).</a:t>
            </a:r>
            <a:endParaRPr b="0" lang="en-GB" sz="3600" spc="-1" strike="noStrike">
              <a:solidFill>
                <a:srgbClr val="000000"/>
              </a:solidFill>
              <a:latin typeface="Arial"/>
            </a:endParaRPr>
          </a:p>
          <a:p>
            <a:pPr>
              <a:lnSpc>
                <a:spcPts val="5000"/>
              </a:lnSpc>
              <a:spcBef>
                <a:spcPts val="1800"/>
              </a:spcBef>
            </a:pPr>
            <a:r>
              <a:rPr b="0" lang="en-GB" sz="3600" spc="-1" strike="noStrike">
                <a:solidFill>
                  <a:srgbClr val="000000"/>
                </a:solidFill>
                <a:latin typeface="Arial"/>
                <a:ea typeface="Arial"/>
              </a:rPr>
              <a:t xml:space="preserve">Legally, the GDPR classifies biometric data used for identification as "special category" data requiring stronger protection (European Union, 2016). The EU AI Act goes further, largely prohibiting real-time facial recognition in public spaces for law enforcement (European Union, 2024). As both laws apply in Ireland, this suggests regulation is beginning to catch up with the technology.</a:t>
            </a:r>
            <a:endParaRPr b="0" lang="en-GB" sz="3600" spc="-1" strike="noStrike">
              <a:solidFill>
                <a:srgbClr val="000000"/>
              </a:solidFill>
              <a:latin typeface="Arial"/>
            </a:endParaRPr>
          </a:p>
        </p:txBody>
      </p:sp>
      <p:sp>
        <p:nvSpPr>
          <p:cNvPr id="37" name="Rectangle 6"/>
          <p:cNvSpPr/>
          <p:nvPr/>
        </p:nvSpPr>
        <p:spPr>
          <a:xfrm>
            <a:off x="0" y="-58680"/>
            <a:ext cx="42808680" cy="3211560"/>
          </a:xfrm>
          <a:prstGeom prst="rect">
            <a:avLst/>
          </a:prstGeom>
          <a:solidFill>
            <a:srgbClr val="006684"/>
          </a:solidFill>
          <a:ln w="0">
            <a:noFill/>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300" spc="-1" strike="noStrike">
              <a:solidFill>
                <a:srgbClr val="000000"/>
              </a:solidFill>
              <a:latin typeface="Arial"/>
            </a:endParaRPr>
          </a:p>
        </p:txBody>
      </p:sp>
      <p:sp>
        <p:nvSpPr>
          <p:cNvPr id="38" name="TextBox 26"/>
          <p:cNvSpPr/>
          <p:nvPr/>
        </p:nvSpPr>
        <p:spPr>
          <a:xfrm>
            <a:off x="955800" y="150840"/>
            <a:ext cx="31795920" cy="2024280"/>
          </a:xfrm>
          <a:prstGeom prst="rect">
            <a:avLst/>
          </a:prstGeom>
          <a:noFill/>
          <a:ln w="0">
            <a:noFill/>
          </a:ln>
        </p:spPr>
        <p:style>
          <a:lnRef idx="0"/>
          <a:fillRef idx="0"/>
          <a:effectRef idx="0"/>
          <a:fontRef idx="minor"/>
        </p:style>
        <p:txBody>
          <a:bodyPr lIns="90000" rIns="90000" tIns="46800" bIns="46800" anchor="t">
            <a:spAutoFit/>
          </a:bodyPr>
          <a:p>
            <a:pPr>
              <a:lnSpc>
                <a:spcPts val="76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6600" spc="-1" strike="noStrike">
                <a:solidFill>
                  <a:srgbClr val="ffffff"/>
                </a:solidFill>
                <a:latin typeface="Arial"/>
                <a:ea typeface="Arial"/>
              </a:rPr>
              <a:t>Computer Vision: Ethical, Legal and Social Impacts</a:t>
            </a:r>
            <a:endParaRPr b="0" lang="en-US" sz="6600" spc="-1" strike="noStrike">
              <a:solidFill>
                <a:srgbClr val="000000"/>
              </a:solidFill>
              <a:latin typeface="Arial"/>
            </a:endParaRPr>
          </a:p>
        </p:txBody>
      </p:sp>
      <p:sp>
        <p:nvSpPr>
          <p:cNvPr id="39" name="Rectangle 6"/>
          <p:cNvSpPr/>
          <p:nvPr/>
        </p:nvSpPr>
        <p:spPr>
          <a:xfrm>
            <a:off x="992160" y="1250000"/>
            <a:ext cx="35269560" cy="525600"/>
          </a:xfrm>
          <a:prstGeom prst="rect">
            <a:avLst/>
          </a:prstGeom>
          <a:noFill/>
          <a:ln w="0">
            <a:noFill/>
          </a:ln>
        </p:spPr>
        <p:style>
          <a:lnRef idx="0"/>
          <a:fillRef idx="0"/>
          <a:effectRef idx="0"/>
          <a:fontRef idx="minor"/>
        </p:style>
        <p:txBody>
          <a:bodyPr lIns="90000" rIns="90000" tIns="46800" bIns="46800" anchor="t">
            <a:spAutoFit/>
          </a:bodyPr>
          <a:p>
            <a:pPr>
              <a:lnSpc>
                <a:spcPts val="3399"/>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4000" spc="-1" strike="noStrike">
                <a:solidFill>
                  <a:srgbClr val="ffffff"/>
                </a:solidFill>
                <a:latin typeface="Arial"/>
                <a:ea typeface="Arial"/>
              </a:rPr>
              <a:t>Muhammad Asharib</a:t>
            </a:r>
            <a:endParaRPr b="0" lang="en-US" sz="4000" spc="-1" strike="noStrike">
              <a:solidFill>
                <a:srgbClr val="000000"/>
              </a:solidFill>
              <a:latin typeface="Arial"/>
            </a:endParaRPr>
          </a:p>
        </p:txBody>
      </p:sp>
      <p:sp>
        <p:nvSpPr>
          <p:cNvPr id="40" name="Rectangle 20"/>
          <p:cNvSpPr/>
          <p:nvPr/>
        </p:nvSpPr>
        <p:spPr>
          <a:xfrm>
            <a:off x="974880" y="3211560"/>
            <a:ext cx="20000000" cy="525600"/>
          </a:xfrm>
          <a:prstGeom prst="rect">
            <a:avLst/>
          </a:prstGeom>
          <a:noFill/>
          <a:ln w="0">
            <a:noFill/>
          </a:ln>
        </p:spPr>
        <p:style>
          <a:lnRef idx="0"/>
          <a:fillRef idx="0"/>
          <a:effectRef idx="0"/>
          <a:fontRef idx="minor"/>
        </p:style>
        <p:txBody>
          <a:bodyPr lIns="90000" rIns="90000" tIns="46800" bIns="46800" anchor="t">
            <a:spAutoFit/>
          </a:bodyPr>
          <a:p>
            <a:pPr>
              <a:lnSpc>
                <a:spcPts val="3399"/>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2400" spc="-1" strike="noStrike">
                <a:solidFill>
                  <a:srgbClr val="000000"/>
                </a:solidFill>
                <a:latin typeface="Arial"/>
                <a:ea typeface="Arial"/>
              </a:rPr>
              <a:t>BSc (Hons) in Computing in IT, CCT College Dublin</a:t>
            </a:r>
            <a:endParaRPr b="0" lang="en-US" sz="2400" spc="-1" strike="noStrike">
              <a:solidFill>
                <a:srgbClr val="000000"/>
              </a:solidFill>
              <a:latin typeface="Arial"/>
            </a:endParaRPr>
          </a:p>
        </p:txBody>
      </p:sp>
      <p:pic>
        <p:nvPicPr>
          <p:cNvPr id="41" name="Picture 3" descr="A blue and black text&#10;&#10;Description automatically generated"/>
          <p:cNvPicPr/>
          <p:nvPr/>
        </p:nvPicPr>
        <p:blipFill>
          <a:blip r:embed="rId1"/>
          <a:stretch/>
        </p:blipFill>
        <p:spPr>
          <a:xfrm>
            <a:off x="34945560" y="625320"/>
            <a:ext cx="6784920" cy="1789200"/>
          </a:xfrm>
          <a:prstGeom prst="rect">
            <a:avLst/>
          </a:prstGeom>
          <a:ln w="0">
            <a:noFill/>
          </a:ln>
        </p:spPr>
      </p:pic>
      <p:pic>
        <p:nvPicPr>
          <p:cNvPr id="96" name="Picture 95" descr="fig2.png"/>
          <p:cNvPicPr>
            <a:picLocks noChangeAspect="1"/>
          </p:cNvPicPr>
          <p:nvPr/>
        </p:nvPicPr>
        <p:blipFill>
          <a:blip r:embed="rId4"/>
          <a:stretch>
            <a:fillRect/>
          </a:stretch>
        </p:blipFill>
        <p:spPr>
          <a:xfrm>
            <a:off x="15098760" y="24000000"/>
            <a:ext cx="12660120" cy="4000000"/>
          </a:xfrm>
          <a:prstGeom prst="rect">
            <a:avLst/>
          </a:prstGeom>
        </p:spPr>
      </p:pic>
      <p:sp>
        <p:nvSpPr>
          <p:cNvPr id="26" name="Rectangle 8"/>
          <p:cNvSpPr/>
          <p:nvPr/>
        </p:nvSpPr>
        <p:spPr>
          <a:xfrm>
            <a:off x="15098760" y="24000000"/>
            <a:ext cx="12660120" cy="4000000"/>
          </a:xfrm>
          <a:prstGeom prst="rect">
            <a:avLst/>
          </a:prstGeom>
          <a:noFill/>
          <a:ln cap="sq" w="12600">
            <a:solidFill>
              <a:srgbClr val="006684"/>
            </a:solidFill>
            <a:round/>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300" spc="-1" strike="noStrike">
              <a:solidFill>
                <a:srgbClr val="000000"/>
              </a:solidFill>
              <a:latin typeface="Arial"/>
            </a:endParaRPr>
          </a:p>
        </p:txBody>
      </p:sp>
      <p:sp>
        <p:nvSpPr>
          <p:cNvPr id="97" name="Fig1 box 1"/>
          <p:cNvSpPr/>
          <p:nvPr/>
        </p:nvSpPr>
        <p:spPr>
          <a:xfrm>
            <a:off x="952560" y="21900000"/>
            <a:ext cx="2480000" cy="3900000"/>
          </a:xfrm>
          <a:prstGeom prst="roundRect">
            <a:avLst>
              <a:gd name="adj" fmla="val 12000"/>
            </a:avLst>
          </a:prstGeom>
          <a:solidFill>
            <a:srgbClr val="006684"/>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lIns="90000" rIns="90000" bIns="200000"/>
          <a:lstStyle/>
          <a:p>
            <a:pPr algn="ctr"/>
            <a:r>
              <a:rPr sz="3600" b="1">
                <a:solidFill>
                  <a:srgbClr val="FFFFFF"/>
                </a:solidFill>
                <a:latin typeface="Arial"/>
              </a:rPr>
              <a:t>Camera</a:t>
            </a:r>
          </a:p>
          <a:p>
            <a:pPr algn="ctr">
              <a:spcBef>
                <a:spcPts val="600"/>
              </a:spcBef>
            </a:pPr>
            <a:r>
              <a:rPr sz="2400">
                <a:solidFill>
                  <a:srgbClr val="DDEEF3"/>
                </a:solidFill>
                <a:latin typeface="Arial"/>
              </a:rPr>
              <a:t>captures the image</a:t>
            </a:r>
          </a:p>
        </p:txBody>
      </p:sp>
      <p:pic>
        <p:nvPicPr>
          <p:cNvPr id="98" name="Fig1 icon 1" descr="camera.png"/>
          <p:cNvPicPr>
            <a:picLocks noChangeAspect="1"/>
          </p:cNvPicPr>
          <p:nvPr/>
        </p:nvPicPr>
        <p:blipFill>
          <a:blip r:embed="rId5"/>
          <a:stretch>
            <a:fillRect/>
          </a:stretch>
        </p:blipFill>
        <p:spPr>
          <a:xfrm>
            <a:off x="1617560" y="22230000"/>
            <a:ext cx="1150000" cy="1150000"/>
          </a:xfrm>
          <a:prstGeom prst="rect">
            <a:avLst/>
          </a:prstGeom>
        </p:spPr>
      </p:pic>
      <p:sp>
        <p:nvSpPr>
          <p:cNvPr id="99" name="Fig1 arrow 1"/>
          <p:cNvSpPr/>
          <p:nvPr/>
        </p:nvSpPr>
        <p:spPr>
          <a:xfrm>
            <a:off x="3612560" y="23520000"/>
            <a:ext cx="620000" cy="660000"/>
          </a:xfrm>
          <a:prstGeom prst="rightArrow">
            <a:avLst/>
          </a:prstGeom>
          <a:solidFill>
            <a:srgbClr val="3FB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Fig1 box 2"/>
          <p:cNvSpPr/>
          <p:nvPr/>
        </p:nvSpPr>
        <p:spPr>
          <a:xfrm>
            <a:off x="4412560" y="21900000"/>
            <a:ext cx="2480000" cy="3900000"/>
          </a:xfrm>
          <a:prstGeom prst="roundRect">
            <a:avLst>
              <a:gd name="adj" fmla="val 12000"/>
            </a:avLst>
          </a:prstGeom>
          <a:solidFill>
            <a:srgbClr val="006684"/>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lIns="90000" rIns="90000" bIns="200000"/>
          <a:lstStyle/>
          <a:p>
            <a:pPr algn="ctr"/>
            <a:r>
              <a:rPr sz="3600" b="1">
                <a:solidFill>
                  <a:srgbClr val="FFFFFF"/>
                </a:solidFill>
                <a:latin typeface="Arial"/>
              </a:rPr>
              <a:t>Pixels</a:t>
            </a:r>
          </a:p>
          <a:p>
            <a:pPr algn="ctr">
              <a:spcBef>
                <a:spcPts val="600"/>
              </a:spcBef>
            </a:pPr>
            <a:r>
              <a:rPr sz="2400">
                <a:solidFill>
                  <a:srgbClr val="DDEEF3"/>
                </a:solidFill>
                <a:latin typeface="Arial"/>
              </a:rPr>
              <a:t>image as numbers</a:t>
            </a:r>
          </a:p>
        </p:txBody>
      </p:sp>
      <p:pic>
        <p:nvPicPr>
          <p:cNvPr id="101" name="Fig1 icon 2" descr="pixels.png"/>
          <p:cNvPicPr>
            <a:picLocks noChangeAspect="1"/>
          </p:cNvPicPr>
          <p:nvPr/>
        </p:nvPicPr>
        <p:blipFill>
          <a:blip r:embed="rId6"/>
          <a:stretch>
            <a:fillRect/>
          </a:stretch>
        </p:blipFill>
        <p:spPr>
          <a:xfrm>
            <a:off x="5077560" y="22230000"/>
            <a:ext cx="1150000" cy="1150000"/>
          </a:xfrm>
          <a:prstGeom prst="rect">
            <a:avLst/>
          </a:prstGeom>
        </p:spPr>
      </p:pic>
      <p:sp>
        <p:nvSpPr>
          <p:cNvPr id="102" name="Fig1 arrow 2"/>
          <p:cNvSpPr/>
          <p:nvPr/>
        </p:nvSpPr>
        <p:spPr>
          <a:xfrm>
            <a:off x="7072560" y="23520000"/>
            <a:ext cx="620000" cy="660000"/>
          </a:xfrm>
          <a:prstGeom prst="rightArrow">
            <a:avLst/>
          </a:prstGeom>
          <a:solidFill>
            <a:srgbClr val="3FB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Fig1 box 3"/>
          <p:cNvSpPr/>
          <p:nvPr/>
        </p:nvSpPr>
        <p:spPr>
          <a:xfrm>
            <a:off x="7872560" y="21900000"/>
            <a:ext cx="2480000" cy="3900000"/>
          </a:xfrm>
          <a:prstGeom prst="roundRect">
            <a:avLst>
              <a:gd name="adj" fmla="val 12000"/>
            </a:avLst>
          </a:prstGeom>
          <a:solidFill>
            <a:srgbClr val="006684"/>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lIns="90000" rIns="90000" bIns="200000"/>
          <a:lstStyle/>
          <a:p>
            <a:pPr algn="ctr"/>
            <a:r>
              <a:rPr sz="3600" b="1">
                <a:solidFill>
                  <a:srgbClr val="FFFFFF"/>
                </a:solidFill>
                <a:latin typeface="Arial"/>
              </a:rPr>
              <a:t>CNN</a:t>
            </a:r>
          </a:p>
          <a:p>
            <a:pPr algn="ctr">
              <a:spcBef>
                <a:spcPts val="600"/>
              </a:spcBef>
            </a:pPr>
            <a:r>
              <a:rPr sz="2400">
                <a:solidFill>
                  <a:srgbClr val="DDEEF3"/>
                </a:solidFill>
                <a:latin typeface="Arial"/>
              </a:rPr>
              <a:t>AI model finds patterns</a:t>
            </a:r>
          </a:p>
        </p:txBody>
      </p:sp>
      <p:pic>
        <p:nvPicPr>
          <p:cNvPr id="104" name="Fig1 icon 3" descr="cnn.png"/>
          <p:cNvPicPr>
            <a:picLocks noChangeAspect="1"/>
          </p:cNvPicPr>
          <p:nvPr/>
        </p:nvPicPr>
        <p:blipFill>
          <a:blip r:embed="rId7"/>
          <a:stretch>
            <a:fillRect/>
          </a:stretch>
        </p:blipFill>
        <p:spPr>
          <a:xfrm>
            <a:off x="8537560" y="22230000"/>
            <a:ext cx="1150000" cy="1150000"/>
          </a:xfrm>
          <a:prstGeom prst="rect">
            <a:avLst/>
          </a:prstGeom>
        </p:spPr>
      </p:pic>
      <p:sp>
        <p:nvSpPr>
          <p:cNvPr id="105" name="Fig1 arrow 3"/>
          <p:cNvSpPr/>
          <p:nvPr/>
        </p:nvSpPr>
        <p:spPr>
          <a:xfrm>
            <a:off x="10532560" y="23520000"/>
            <a:ext cx="620000" cy="660000"/>
          </a:xfrm>
          <a:prstGeom prst="rightArrow">
            <a:avLst/>
          </a:prstGeom>
          <a:solidFill>
            <a:srgbClr val="3FB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Fig1 box 4"/>
          <p:cNvSpPr/>
          <p:nvPr/>
        </p:nvSpPr>
        <p:spPr>
          <a:xfrm>
            <a:off x="11332560" y="21900000"/>
            <a:ext cx="2480000" cy="3900000"/>
          </a:xfrm>
          <a:prstGeom prst="roundRect">
            <a:avLst>
              <a:gd name="adj" fmla="val 12000"/>
            </a:avLst>
          </a:prstGeom>
          <a:solidFill>
            <a:srgbClr val="006684"/>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lIns="90000" rIns="90000" bIns="200000"/>
          <a:lstStyle/>
          <a:p>
            <a:pPr algn="ctr"/>
            <a:r>
              <a:rPr sz="3600" b="1">
                <a:solidFill>
                  <a:srgbClr val="FFFFFF"/>
                </a:solidFill>
                <a:latin typeface="Arial"/>
              </a:rPr>
              <a:t>Result</a:t>
            </a:r>
          </a:p>
          <a:p>
            <a:pPr algn="ctr">
              <a:spcBef>
                <a:spcPts val="600"/>
              </a:spcBef>
            </a:pPr>
            <a:r>
              <a:rPr sz="2400">
                <a:solidFill>
                  <a:srgbClr val="DDEEF3"/>
                </a:solidFill>
                <a:latin typeface="Arial"/>
              </a:rPr>
              <a:t>e.g. face recognised</a:t>
            </a:r>
          </a:p>
        </p:txBody>
      </p:sp>
      <p:pic>
        <p:nvPicPr>
          <p:cNvPr id="107" name="Fig1 icon 4" descr="result.png"/>
          <p:cNvPicPr>
            <a:picLocks noChangeAspect="1"/>
          </p:cNvPicPr>
          <p:nvPr/>
        </p:nvPicPr>
        <p:blipFill>
          <a:blip r:embed="rId8"/>
          <a:stretch>
            <a:fillRect/>
          </a:stretch>
        </p:blipFill>
        <p:spPr>
          <a:xfrm>
            <a:off x="11997560" y="22230000"/>
            <a:ext cx="1150000" cy="1150000"/>
          </a:xfrm>
          <a:prstGeom prst="rect">
            <a:avLst/>
          </a:prstGeom>
        </p:spPr>
      </p:pic>
      <p:sp>
        <p:nvSpPr>
          <p:cNvPr id="108" name="Rectangle 20"/>
          <p:cNvSpPr/>
          <p:nvPr/>
        </p:nvSpPr>
        <p:spPr>
          <a:xfrm>
            <a:off x="952560" y="25950000"/>
            <a:ext cx="12787200" cy="525600"/>
          </a:xfrm>
          <a:prstGeom prst="rect">
            <a:avLst/>
          </a:prstGeom>
          <a:noFill/>
          <a:ln w="0">
            <a:noFill/>
          </a:ln>
        </p:spPr>
        <p:style>
          <a:lnRef idx="0"/>
          <a:fillRef idx="0"/>
          <a:effectRef idx="0"/>
          <a:fontRef idx="minor"/>
        </p:style>
        <p:txBody>
          <a:bodyPr lIns="90000" rIns="90000" tIns="46800" bIns="46800" anchor="t">
            <a:spAutoFit/>
          </a:bodyPr>
          <a:p>
            <a:pPr>
              <a:lnSpc>
                <a:spcPts val="3399"/>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2400" spc="-1" strike="noStrike">
                <a:solidFill>
                  <a:srgbClr val="000000"/>
                </a:solidFill>
                <a:latin typeface="Arial"/>
                <a:ea typeface="Arial"/>
              </a:rPr>
              <a:t>Fig. 1</a:t>
            </a:r>
            <a:r>
              <a:rPr b="0" lang="en-GB" sz="2400" spc="-1" strike="noStrike">
                <a:solidFill>
                  <a:srgbClr val="000000"/>
                </a:solidFill>
                <a:latin typeface="Arial"/>
                <a:ea typeface="Arial"/>
              </a:rPr>
              <a:t> How computer vision works (own diagram)</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18468</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2000-02-09T05:19:10Z</dcterms:created>
  <dc:creator>Anne Koerber</dc:creator>
  <dc:description/>
  <dc:language>en-US</dc:language>
  <cp:lastModifiedBy>David  McQuaid</cp:lastModifiedBy>
  <cp:lastPrinted>2014-07-25T07:09:17Z</cp:lastPrinted>
  <dcterms:modified xsi:type="dcterms:W3CDTF">2024-10-08T08:13:52Z</dcterms:modified>
  <cp:revision>571</cp:revision>
  <dc:subject/>
  <dc:title>PowerPoint Presentation</dc:title>
</cp:coreProperties>
</file>